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27"/>
  </p:notesMasterIdLst>
  <p:sldIdLst>
    <p:sldId id="265" r:id="rId3"/>
    <p:sldId id="257" r:id="rId4"/>
    <p:sldId id="266" r:id="rId5"/>
    <p:sldId id="267" r:id="rId6"/>
    <p:sldId id="268" r:id="rId7"/>
    <p:sldId id="276" r:id="rId8"/>
    <p:sldId id="277" r:id="rId9"/>
    <p:sldId id="259" r:id="rId10"/>
    <p:sldId id="269" r:id="rId11"/>
    <p:sldId id="261" r:id="rId12"/>
    <p:sldId id="279" r:id="rId13"/>
    <p:sldId id="278" r:id="rId14"/>
    <p:sldId id="275" r:id="rId15"/>
    <p:sldId id="260" r:id="rId16"/>
    <p:sldId id="282" r:id="rId17"/>
    <p:sldId id="283" r:id="rId18"/>
    <p:sldId id="274" r:id="rId19"/>
    <p:sldId id="284" r:id="rId20"/>
    <p:sldId id="286" r:id="rId21"/>
    <p:sldId id="287" r:id="rId22"/>
    <p:sldId id="288" r:id="rId23"/>
    <p:sldId id="289" r:id="rId24"/>
    <p:sldId id="290" r:id="rId25"/>
    <p:sldId id="263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5" autoAdjust="0"/>
    <p:restoredTop sz="97366" autoAdjust="0"/>
  </p:normalViewPr>
  <p:slideViewPr>
    <p:cSldViewPr snapToGrid="0">
      <p:cViewPr varScale="1">
        <p:scale>
          <a:sx n="68" d="100"/>
          <a:sy n="68" d="100"/>
        </p:scale>
        <p:origin x="1542" y="78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034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E0A80-D4EA-E771-37F3-8C944EC6B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C765EE-4BD2-FA1A-AABC-413D8CE85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726C1B-1171-C154-14E0-6C3272DF3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10579-DC84-217E-E09C-6DF8E6841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67816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noProof="0" dirty="0"/>
              <a:t>&lt;</a:t>
            </a:r>
            <a:r>
              <a:rPr lang="hr-HR" sz="4000" noProof="0" dirty="0" err="1"/>
              <a:t>Računko</a:t>
            </a:r>
            <a:r>
              <a:rPr lang="hr-HR" sz="4000" noProof="0" dirty="0"/>
              <a:t>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</a:t>
            </a:r>
            <a:r>
              <a:rPr lang="hr-HR" sz="1400" dirty="0"/>
              <a:t>11.4</a:t>
            </a:r>
            <a:r>
              <a:rPr lang="hr-HR" sz="1400" noProof="0" dirty="0"/>
              <a:t> &lt;</a:t>
            </a:r>
            <a:r>
              <a:rPr lang="hr-HR" sz="1400" noProof="0" dirty="0" err="1"/>
              <a:t>TimFiLAn</a:t>
            </a:r>
            <a:r>
              <a:rPr lang="hr-HR" sz="1400" noProof="0" dirty="0"/>
              <a:t>&gt;</a:t>
            </a:r>
          </a:p>
          <a:p>
            <a:r>
              <a:rPr lang="hr-HR" noProof="0" dirty="0"/>
              <a:t>Ak. god. 2025./2026.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Opis zadatka</a:t>
            </a:r>
          </a:p>
          <a:p>
            <a:r>
              <a:rPr lang="hr-HR" noProof="0" dirty="0"/>
              <a:t>Pregled zahtjeva</a:t>
            </a:r>
          </a:p>
          <a:p>
            <a:r>
              <a:rPr lang="hr-HR" noProof="0" dirty="0"/>
              <a:t>Korišteni alati i tehnologije</a:t>
            </a:r>
          </a:p>
          <a:p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CB0F54-7862-2508-EDB2-877BCE433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Članovi tima</a:t>
            </a:r>
          </a:p>
          <a:p>
            <a:r>
              <a:rPr lang="hr-HR" noProof="0" dirty="0"/>
              <a:t>Cilj projekta</a:t>
            </a:r>
          </a:p>
          <a:p>
            <a:r>
              <a:rPr lang="hr-HR" noProof="0" dirty="0"/>
              <a:t>Analiza i oblikovanje sustava	</a:t>
            </a:r>
          </a:p>
          <a:p>
            <a:pPr lvl="1"/>
            <a:r>
              <a:rPr lang="hr-HR" noProof="0" dirty="0"/>
              <a:t>Zahtjevi</a:t>
            </a:r>
          </a:p>
          <a:p>
            <a:pPr lvl="1"/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256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Luka Kovačević</a:t>
            </a:r>
          </a:p>
          <a:p>
            <a:pPr lvl="1"/>
            <a:r>
              <a:rPr lang="hr-HR" dirty="0"/>
              <a:t>Organizacija sastanaka, Backend/Frontend</a:t>
            </a:r>
            <a:endParaRPr lang="hr-HR" noProof="0" dirty="0"/>
          </a:p>
          <a:p>
            <a:r>
              <a:rPr lang="hr-HR" dirty="0"/>
              <a:t>Timon </a:t>
            </a:r>
            <a:r>
              <a:rPr lang="hr-HR" dirty="0" err="1"/>
              <a:t>Menalo</a:t>
            </a:r>
            <a:endParaRPr lang="hr-HR" dirty="0"/>
          </a:p>
          <a:p>
            <a:pPr lvl="1"/>
            <a:r>
              <a:rPr lang="hr-HR" dirty="0" err="1"/>
              <a:t>Frontend</a:t>
            </a:r>
            <a:r>
              <a:rPr lang="hr-HR" dirty="0"/>
              <a:t> </a:t>
            </a:r>
          </a:p>
          <a:p>
            <a:r>
              <a:rPr lang="hr-HR" noProof="0" dirty="0"/>
              <a:t>Luka Majcen</a:t>
            </a:r>
          </a:p>
          <a:p>
            <a:pPr lvl="1"/>
            <a:r>
              <a:rPr lang="en-US" dirty="0"/>
              <a:t>Frontend</a:t>
            </a:r>
            <a:endParaRPr lang="hr-HR" noProof="0" dirty="0"/>
          </a:p>
          <a:p>
            <a:r>
              <a:rPr lang="hr-HR" dirty="0"/>
              <a:t>Luka </a:t>
            </a:r>
            <a:r>
              <a:rPr lang="hr-HR" dirty="0" err="1"/>
              <a:t>Uršić</a:t>
            </a:r>
            <a:endParaRPr lang="hr-HR" dirty="0"/>
          </a:p>
          <a:p>
            <a:pPr lvl="1"/>
            <a:r>
              <a:rPr lang="hr-HR" dirty="0" err="1"/>
              <a:t>Backend</a:t>
            </a:r>
            <a:endParaRPr lang="hr-HR" dirty="0"/>
          </a:p>
          <a:p>
            <a:r>
              <a:rPr lang="hr-HR" noProof="0" dirty="0"/>
              <a:t>Ante Galić</a:t>
            </a:r>
          </a:p>
          <a:p>
            <a:pPr lvl="1"/>
            <a:r>
              <a:rPr lang="en-US" noProof="0" dirty="0"/>
              <a:t>Backend</a:t>
            </a:r>
            <a:endParaRPr lang="hr-HR" noProof="0" dirty="0"/>
          </a:p>
          <a:p>
            <a:r>
              <a:rPr lang="hr-HR" noProof="0" dirty="0"/>
              <a:t>Filip Šturlić</a:t>
            </a:r>
          </a:p>
          <a:p>
            <a:pPr lvl="1"/>
            <a:r>
              <a:rPr lang="hr-HR" dirty="0"/>
              <a:t>Dokumentacija</a:t>
            </a: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hr-HR" altLang="sr-Latn-RS" b="1" dirty="0"/>
              <a:t>Što aplikacija radi</a:t>
            </a:r>
          </a:p>
          <a:p>
            <a:r>
              <a:rPr lang="hr-HR" dirty="0"/>
              <a:t>Automatski prepoznaje i kategorizira račune pomoću AI-ja</a:t>
            </a:r>
          </a:p>
          <a:p>
            <a:r>
              <a:rPr lang="hr-HR" dirty="0"/>
              <a:t>Omogućuje praćenje mjesečnih troškova po kategorijama</a:t>
            </a:r>
          </a:p>
          <a:p>
            <a:r>
              <a:rPr lang="hr-HR" dirty="0"/>
              <a:t>Pruža pregled troškova tablično i grafički</a:t>
            </a:r>
          </a:p>
          <a:p>
            <a:r>
              <a:rPr lang="hr-HR" dirty="0"/>
              <a:t>Omogućuje dodavanje sporednih korisnika i zajedničko praćenje kućanstva</a:t>
            </a:r>
          </a:p>
          <a:p>
            <a:r>
              <a:rPr lang="hr-HR" dirty="0"/>
              <a:t>Nudi personalizirane savjete kroz integrirani </a:t>
            </a:r>
            <a:r>
              <a:rPr lang="hr-HR" dirty="0" err="1"/>
              <a:t>ChatBot</a:t>
            </a:r>
            <a:endParaRPr lang="hr-HR" dirty="0"/>
          </a:p>
          <a:p>
            <a:pPr marL="0" indent="0">
              <a:buNone/>
            </a:pPr>
            <a:r>
              <a:rPr lang="hr-HR" b="1" dirty="0"/>
              <a:t>Cilj aplikacije</a:t>
            </a:r>
            <a:endParaRPr lang="hr-HR" dirty="0"/>
          </a:p>
          <a:p>
            <a:r>
              <a:rPr lang="hr-HR" dirty="0"/>
              <a:t>Pojednostaviti upravljanje osobnim financijama</a:t>
            </a:r>
          </a:p>
          <a:p>
            <a:r>
              <a:rPr lang="hr-HR" dirty="0"/>
              <a:t>Povećati financijsku pismenost korisnika</a:t>
            </a:r>
          </a:p>
          <a:p>
            <a:r>
              <a:rPr lang="hr-HR" dirty="0"/>
              <a:t>Omogućiti uvid i kontrolu nad kućnim budžetom</a:t>
            </a:r>
          </a:p>
          <a:p>
            <a:r>
              <a:rPr lang="hr-HR" dirty="0"/>
              <a:t>Automatizirati unos podataka i eliminirati ručni rad</a:t>
            </a:r>
          </a:p>
          <a:p>
            <a:endParaRPr lang="hr-HR" altLang="sr-Latn-R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34913-CE53-91DD-03B1-95D46002E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0CEE3-AB83-5A11-478B-1DEBF6835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B1998-FACF-C68A-DC35-986CD135B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hr-HR" sz="2800" b="1" dirty="0"/>
              <a:t>Slična rješenja</a:t>
            </a:r>
            <a:endParaRPr lang="hr-HR" sz="2800" dirty="0"/>
          </a:p>
          <a:p>
            <a:r>
              <a:rPr lang="hr-HR" b="1" dirty="0" err="1"/>
              <a:t>Spendee</a:t>
            </a:r>
            <a:r>
              <a:rPr lang="hr-HR" dirty="0"/>
              <a:t> – vizualna analitika, budžeti, zajednički </a:t>
            </a:r>
            <a:r>
              <a:rPr lang="hr-HR" dirty="0" err="1"/>
              <a:t>walleti</a:t>
            </a:r>
            <a:endParaRPr lang="hr-HR" dirty="0"/>
          </a:p>
          <a:p>
            <a:r>
              <a:rPr lang="hr-HR" b="1" dirty="0" err="1"/>
              <a:t>Expensify</a:t>
            </a:r>
            <a:r>
              <a:rPr lang="hr-HR" dirty="0"/>
              <a:t> – automatsko skeniranje i kategorizacija računa, izvještaji</a:t>
            </a:r>
          </a:p>
          <a:p>
            <a:r>
              <a:rPr lang="hr-HR" b="1" dirty="0"/>
              <a:t>Home Budget </a:t>
            </a:r>
            <a:r>
              <a:rPr lang="hr-HR" b="1" dirty="0" err="1"/>
              <a:t>with</a:t>
            </a:r>
            <a:r>
              <a:rPr lang="hr-HR" b="1" dirty="0"/>
              <a:t> Sync</a:t>
            </a:r>
            <a:r>
              <a:rPr lang="hr-HR" dirty="0"/>
              <a:t> – obiteljski budžeti, sinkronizacija u realnom vremenu</a:t>
            </a:r>
          </a:p>
          <a:p>
            <a:pPr marL="0" indent="0">
              <a:buNone/>
            </a:pPr>
            <a:r>
              <a:rPr lang="hr-HR" sz="2800" b="1" dirty="0"/>
              <a:t>Naša prednost</a:t>
            </a:r>
            <a:endParaRPr lang="hr-HR" sz="2800" dirty="0"/>
          </a:p>
          <a:p>
            <a:r>
              <a:rPr lang="hr-HR" b="1" dirty="0"/>
              <a:t>Integracija</a:t>
            </a:r>
            <a:r>
              <a:rPr lang="hr-HR" dirty="0"/>
              <a:t> AI-a za automatsku kategorizaciju računa</a:t>
            </a:r>
          </a:p>
          <a:p>
            <a:r>
              <a:rPr lang="hr-HR" b="1" dirty="0" err="1"/>
              <a:t>ChatBot</a:t>
            </a:r>
            <a:r>
              <a:rPr lang="hr-HR" dirty="0"/>
              <a:t> za personalizirane financijske </a:t>
            </a:r>
            <a:r>
              <a:rPr lang="hr-HR" b="1" dirty="0"/>
              <a:t>savjete</a:t>
            </a:r>
          </a:p>
          <a:p>
            <a:r>
              <a:rPr lang="hr-HR" dirty="0"/>
              <a:t>Jedinstveno praćenje </a:t>
            </a:r>
            <a:r>
              <a:rPr lang="hr-HR" b="1" dirty="0"/>
              <a:t>troškova</a:t>
            </a:r>
            <a:r>
              <a:rPr lang="hr-HR" dirty="0"/>
              <a:t> glavnog i sporednih korisnika</a:t>
            </a:r>
          </a:p>
          <a:p>
            <a:r>
              <a:rPr lang="hr-HR" dirty="0"/>
              <a:t>Intuitivno mobilno sučelje optimizirano za </a:t>
            </a:r>
            <a:r>
              <a:rPr lang="hr-HR" b="1" dirty="0"/>
              <a:t>Android</a:t>
            </a:r>
            <a:r>
              <a:rPr lang="hr-HR" dirty="0"/>
              <a:t> i </a:t>
            </a:r>
            <a:r>
              <a:rPr lang="hr-HR" b="1" dirty="0" err="1"/>
              <a:t>iOS</a:t>
            </a:r>
            <a:endParaRPr lang="hr-HR" b="1" dirty="0"/>
          </a:p>
          <a:p>
            <a:r>
              <a:rPr lang="hr-HR" b="1" dirty="0"/>
              <a:t>Centralizirana</a:t>
            </a:r>
            <a:r>
              <a:rPr lang="hr-HR" dirty="0"/>
              <a:t> </a:t>
            </a:r>
            <a:r>
              <a:rPr lang="hr-HR" b="1" dirty="0"/>
              <a:t>kontrola</a:t>
            </a:r>
            <a:r>
              <a:rPr lang="hr-HR" dirty="0"/>
              <a:t> i analiza kućnog budžeta u jednoj aplikaciji</a:t>
            </a:r>
          </a:p>
          <a:p>
            <a:endParaRPr lang="hr-HR" altLang="sr-Latn-R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0F736-F0B4-75EA-9997-39ECBC83B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176872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ED8BE-C4DA-AC33-5799-C309806A4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41D13-022B-4778-C2C8-1ACE7F652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49E8C-5849-0D1D-FADF-5F15483D2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r-HR" sz="2600" b="1" dirty="0"/>
              <a:t>Glavni funkcionalni zahtjevi</a:t>
            </a:r>
            <a:r>
              <a:rPr lang="hr-HR" sz="2600" noProof="0" dirty="0"/>
              <a:t> </a:t>
            </a:r>
          </a:p>
          <a:p>
            <a:r>
              <a:rPr lang="hr-HR" sz="2200" b="1" dirty="0"/>
              <a:t>Registracija i prijava korisnika</a:t>
            </a:r>
            <a:r>
              <a:rPr lang="hr-HR" sz="2200" dirty="0"/>
              <a:t> </a:t>
            </a:r>
          </a:p>
          <a:p>
            <a:r>
              <a:rPr lang="hr-HR" sz="2200" b="1" dirty="0"/>
              <a:t>Postavljanje mjesečnog budžeta</a:t>
            </a:r>
          </a:p>
          <a:p>
            <a:r>
              <a:rPr lang="hr-HR" sz="2200" b="1" dirty="0"/>
              <a:t>Unos računa i automatska kategorizacija</a:t>
            </a:r>
            <a:r>
              <a:rPr lang="hr-HR" sz="2200" dirty="0"/>
              <a:t> </a:t>
            </a:r>
            <a:r>
              <a:rPr lang="hr-HR" sz="2200" b="1" dirty="0"/>
              <a:t>Kreiranje i upravljanje grupama (obitelji)</a:t>
            </a:r>
            <a:r>
              <a:rPr lang="hr-HR" sz="2200" dirty="0"/>
              <a:t> </a:t>
            </a:r>
          </a:p>
          <a:p>
            <a:r>
              <a:rPr lang="hr-HR" sz="2200" b="1" dirty="0" err="1"/>
              <a:t>ChatBot</a:t>
            </a:r>
            <a:r>
              <a:rPr lang="hr-HR" sz="2200" b="1" dirty="0"/>
              <a:t> savjetnik</a:t>
            </a:r>
            <a:r>
              <a:rPr lang="hr-HR" sz="2200" dirty="0"/>
              <a:t> </a:t>
            </a:r>
          </a:p>
          <a:p>
            <a:r>
              <a:rPr lang="hr-HR" sz="2200" b="1" dirty="0"/>
              <a:t>Administracija i izvještaji</a:t>
            </a:r>
            <a:endParaRPr lang="hr-HR" sz="22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39CA7-037C-0E1D-F80D-EBEFFEC5F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01526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sz="2600" b="1" dirty="0"/>
              <a:t>Glavni nefunkcionalni zahtjevi</a:t>
            </a:r>
          </a:p>
          <a:p>
            <a:r>
              <a:rPr lang="hr-HR" sz="2200" b="1" dirty="0"/>
              <a:t>Sigurna autentifikacija i autorizacija – </a:t>
            </a:r>
            <a:r>
              <a:rPr lang="hr-HR" sz="2200" dirty="0" err="1"/>
              <a:t>Oauth</a:t>
            </a:r>
            <a:r>
              <a:rPr lang="hr-HR" sz="2200" dirty="0"/>
              <a:t> 2.0 </a:t>
            </a:r>
            <a:endParaRPr lang="hr-HR" sz="2200" b="1" dirty="0"/>
          </a:p>
          <a:p>
            <a:r>
              <a:rPr lang="hr-HR" sz="2200" b="1" dirty="0"/>
              <a:t>Sigurnost podataka </a:t>
            </a:r>
            <a:r>
              <a:rPr lang="hr-HR" sz="2200" dirty="0"/>
              <a:t>– Usklađenost sa GDPR-om</a:t>
            </a:r>
          </a:p>
          <a:p>
            <a:r>
              <a:rPr lang="hr-HR" sz="2200" b="1" dirty="0"/>
              <a:t>HTTPS komunikacija</a:t>
            </a:r>
          </a:p>
          <a:p>
            <a:r>
              <a:rPr lang="hr-HR" sz="2200" b="1" dirty="0"/>
              <a:t>Točnost prepoznavanja sadržaja računa</a:t>
            </a:r>
          </a:p>
          <a:p>
            <a:r>
              <a:rPr lang="hr-HR" sz="2200" b="1" dirty="0"/>
              <a:t>Održavanje i skalabilnost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10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34" name="Rectangle 16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 useBgFill="1">
        <p:nvSpPr>
          <p:cNvPr id="35" name="Rectangle 18">
            <a:extLst>
              <a:ext uri="{FF2B5EF4-FFF2-40B4-BE49-F238E27FC236}">
                <a16:creationId xmlns:a16="http://schemas.microsoft.com/office/drawing/2014/main" id="{26B4480E-B7FF-4481-890E-043A69AE6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20">
            <a:extLst>
              <a:ext uri="{FF2B5EF4-FFF2-40B4-BE49-F238E27FC236}">
                <a16:creationId xmlns:a16="http://schemas.microsoft.com/office/drawing/2014/main" id="{79394E1F-0B5F-497D-B2A6-8383A2A54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28551" y="457200"/>
            <a:ext cx="2777491" cy="5935133"/>
            <a:chOff x="438068" y="457200"/>
            <a:chExt cx="3703320" cy="593513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F1FF39A-AC3C-4066-9D4C-519AA2281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01201"/>
              <a:ext cx="3702134" cy="5791132"/>
            </a:xfrm>
            <a:prstGeom prst="rect">
              <a:avLst/>
            </a:prstGeom>
            <a:solidFill>
              <a:srgbClr val="465359">
                <a:alpha val="97000"/>
              </a:srgb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r-H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4C13BAB-7C00-4D21-A857-E3D41C0A2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rgbClr val="4653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r-HR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1524001"/>
            <a:ext cx="2559050" cy="34783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457200"/>
            <a:r>
              <a:rPr lang="en-US" sz="3600" noProof="0">
                <a:solidFill>
                  <a:srgbClr val="FFFFFF"/>
                </a:solidFill>
              </a:rPr>
              <a:t>UML dijagram obrazaca uporabe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1D33-6016-014F-7976-CC3BF83E4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50" y="5145513"/>
            <a:ext cx="2559050" cy="738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45720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1600" kern="1200" cap="all" noProof="0">
                <a:solidFill>
                  <a:srgbClr val="FFFFFF">
                    <a:alpha val="75000"/>
                  </a:srgbClr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90799" y="766070"/>
            <a:ext cx="40700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en-US" sz="9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900">
              <a:solidFill>
                <a:srgbClr val="FFFFFF"/>
              </a:solidFill>
            </a:endParaRPr>
          </a:p>
        </p:txBody>
      </p:sp>
      <p:pic>
        <p:nvPicPr>
          <p:cNvPr id="6" name="Slika 5" descr="Slika na kojoj se prikazuje tekst, dijagram, snimka zaslona, crta&#10;&#10;Sadržaj generiran uz AI možda nije točan.">
            <a:extLst>
              <a:ext uri="{FF2B5EF4-FFF2-40B4-BE49-F238E27FC236}">
                <a16:creationId xmlns:a16="http://schemas.microsoft.com/office/drawing/2014/main" id="{F7F513F8-AFF8-85D5-7DDD-49DFB76FD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501" y="597644"/>
            <a:ext cx="6013801" cy="553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524398-BFB4-4C4A-8317-83B8729F9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946306D-5ADD-463A-949A-DEEBA39D7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73A035-1F9A-4381-AC96-683CD2DF5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5422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4ED641-0671-4D88-92E6-026A8C9F1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3255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02EF2F-E7B1-40FC-885B-C4D89902B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Rezervirano mjesto sadržaja 5" descr="Slika na kojoj se prikazuje tekst, dijagram, snimka zaslona, crta&#10;&#10;Sadržaj generiran uz AI možda nije točan.">
            <a:extLst>
              <a:ext uri="{FF2B5EF4-FFF2-40B4-BE49-F238E27FC236}">
                <a16:creationId xmlns:a16="http://schemas.microsoft.com/office/drawing/2014/main" id="{4BBB1A14-7E41-0D06-A975-79F4380274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9184"/>
          <a:stretch>
            <a:fillRect/>
          </a:stretch>
        </p:blipFill>
        <p:spPr>
          <a:xfrm>
            <a:off x="138388" y="322592"/>
            <a:ext cx="9012072" cy="411314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180D5DB-9658-40A6-A418-7C6998222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899" y="4199467"/>
            <a:ext cx="8472550" cy="219109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40" y="4319752"/>
            <a:ext cx="8210715" cy="11559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457200"/>
            <a:r>
              <a:rPr lang="hr-HR" sz="3600" noProof="0" dirty="0">
                <a:solidFill>
                  <a:srgbClr val="FFFFFF"/>
                </a:solidFill>
              </a:rPr>
              <a:t>Dijagram razreda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18725" y="6423914"/>
            <a:ext cx="78938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en-US" sz="900" smtClean="0"/>
              <a:pPr>
                <a:spcAft>
                  <a:spcPts val="600"/>
                </a:spcAft>
              </a:pPr>
              <a:t>10</a:t>
            </a:fld>
            <a:endParaRPr lang="en-US" sz="900"/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A7846BF9-9EC4-A212-C445-242DF6FFB74E}"/>
              </a:ext>
            </a:extLst>
          </p:cNvPr>
          <p:cNvSpPr txBox="1"/>
          <p:nvPr/>
        </p:nvSpPr>
        <p:spPr>
          <a:xfrm>
            <a:off x="2835797" y="8681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D8C22-B27D-C8F2-9FB4-D0A5AF5EE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C341C-F766-7103-F6A1-C4D65B599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Dijagram komponenata</a:t>
            </a:r>
          </a:p>
        </p:txBody>
      </p:sp>
      <p:pic>
        <p:nvPicPr>
          <p:cNvPr id="10" name="Rezervirano mjesto sadržaja 9" descr="Slika na kojoj se prikazuje tekst, snimka zaslona, dijagram, paralelno&#10;&#10;Sadržaj generiran uz AI možda nije točan.">
            <a:extLst>
              <a:ext uri="{FF2B5EF4-FFF2-40B4-BE49-F238E27FC236}">
                <a16:creationId xmlns:a16="http://schemas.microsoft.com/office/drawing/2014/main" id="{4447C01F-E926-779B-25D5-2798A1711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19" y="872996"/>
            <a:ext cx="7761761" cy="561930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85F05-F524-02D0-A622-A048199A2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416533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C3288-691A-D888-02EA-8C4C0CD94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515B2-5993-6864-5E7C-36EEA9422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Dijagram</a:t>
            </a:r>
            <a:r>
              <a:rPr lang="en-GB" noProof="0" dirty="0"/>
              <a:t> </a:t>
            </a:r>
            <a:r>
              <a:rPr lang="en-GB" noProof="0" dirty="0" err="1"/>
              <a:t>razmještaja</a:t>
            </a:r>
            <a:endParaRPr lang="hr-HR" noProof="0" dirty="0"/>
          </a:p>
        </p:txBody>
      </p:sp>
      <p:pic>
        <p:nvPicPr>
          <p:cNvPr id="6" name="Rezervirano mjesto sadržaja 5" descr="Slika na kojoj se prikazuje tekst, snimka zaslona, dijagram, Trokut&#10;&#10;Sadržaj generiran uz AI možda nije točan.">
            <a:extLst>
              <a:ext uri="{FF2B5EF4-FFF2-40B4-BE49-F238E27FC236}">
                <a16:creationId xmlns:a16="http://schemas.microsoft.com/office/drawing/2014/main" id="{09A3084B-022B-EBB4-154D-7C0536937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8" y="1014559"/>
            <a:ext cx="9001125" cy="531465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97DF1-A0D2-A65C-9FDA-2A67C684C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031171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sz="2600" b="1" dirty="0" err="1"/>
              <a:t>Unit</a:t>
            </a:r>
            <a:r>
              <a:rPr lang="hr-HR" sz="2600" b="1" dirty="0"/>
              <a:t> testovi </a:t>
            </a:r>
            <a:r>
              <a:rPr lang="hr-HR" sz="2600" b="1" dirty="0" err="1"/>
              <a:t>backend</a:t>
            </a:r>
            <a:r>
              <a:rPr lang="hr-HR" sz="2600" b="1" dirty="0"/>
              <a:t>-a</a:t>
            </a:r>
          </a:p>
          <a:p>
            <a:pPr lvl="1"/>
            <a:r>
              <a:rPr lang="en-US" sz="2200" dirty="0" err="1"/>
              <a:t>Provjera</a:t>
            </a:r>
            <a:r>
              <a:rPr lang="en-US" sz="2200" dirty="0"/>
              <a:t> </a:t>
            </a:r>
            <a:r>
              <a:rPr lang="en-US" sz="2200" dirty="0" err="1"/>
              <a:t>modela</a:t>
            </a:r>
            <a:r>
              <a:rPr lang="en-US" sz="2200" dirty="0"/>
              <a:t>: User, Group, Profile, Category, Store, Transaction, Expense</a:t>
            </a:r>
            <a:endParaRPr lang="hr-HR" sz="2200" dirty="0"/>
          </a:p>
          <a:p>
            <a:pPr lvl="1"/>
            <a:r>
              <a:rPr lang="pt-BR" sz="2200" dirty="0"/>
              <a:t>Testiranje atributa, relacija i automatskog postavljanja datuma</a:t>
            </a:r>
            <a:endParaRPr lang="hr-HR" sz="2200" dirty="0"/>
          </a:p>
          <a:p>
            <a:pPr lvl="1"/>
            <a:r>
              <a:rPr lang="hr-HR" sz="2200" dirty="0"/>
              <a:t>Ponašanje pri brisanju povezanih objekata (SET_NULL, PROTECTED)</a:t>
            </a:r>
            <a:endParaRPr lang="hr-HR" sz="2200" b="1" dirty="0"/>
          </a:p>
          <a:p>
            <a:r>
              <a:rPr lang="hr-HR" sz="2600" b="1" dirty="0"/>
              <a:t>E2E testovi </a:t>
            </a:r>
            <a:r>
              <a:rPr lang="hr-HR" sz="2600" b="1" dirty="0" err="1"/>
              <a:t>frontend</a:t>
            </a:r>
            <a:r>
              <a:rPr lang="hr-HR" sz="2600" b="1" dirty="0"/>
              <a:t>-a (Maestro)</a:t>
            </a:r>
          </a:p>
          <a:p>
            <a:pPr lvl="1"/>
            <a:r>
              <a:rPr lang="hr-HR" sz="2200" dirty="0"/>
              <a:t>Registracija i prijava korisnika (uspješno i neuspješno)</a:t>
            </a:r>
          </a:p>
          <a:p>
            <a:pPr lvl="1"/>
            <a:r>
              <a:rPr lang="hr-HR" sz="2200" dirty="0" err="1"/>
              <a:t>Logout</a:t>
            </a:r>
            <a:r>
              <a:rPr lang="hr-HR" sz="2200" dirty="0"/>
              <a:t> i navigacija kroz </a:t>
            </a:r>
            <a:r>
              <a:rPr lang="hr-HR" sz="2200" dirty="0" err="1"/>
              <a:t>tabove</a:t>
            </a:r>
            <a:r>
              <a:rPr lang="hr-HR" sz="2200" dirty="0"/>
              <a:t> (Home, Group, </a:t>
            </a:r>
            <a:r>
              <a:rPr lang="hr-HR" sz="2200" dirty="0" err="1"/>
              <a:t>Chatbot</a:t>
            </a:r>
            <a:r>
              <a:rPr lang="hr-HR" sz="2200" dirty="0"/>
              <a:t>, Profile)</a:t>
            </a:r>
          </a:p>
          <a:p>
            <a:pPr lvl="1"/>
            <a:r>
              <a:rPr lang="hr-HR" sz="2200" dirty="0"/>
              <a:t>Provjera prikaza i funkcionalnosti glavnih komponenti aplikacije</a:t>
            </a:r>
            <a:endParaRPr lang="hr-HR" sz="2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sz="2600" b="1" noProof="0" dirty="0"/>
              <a:t>Popis programskih jezika i radnih okvira</a:t>
            </a:r>
          </a:p>
          <a:p>
            <a:pPr marL="800100" lvl="1"/>
            <a:r>
              <a:rPr lang="hr-HR" sz="2200" b="1" dirty="0" err="1"/>
              <a:t>Backend</a:t>
            </a:r>
            <a:r>
              <a:rPr lang="hr-HR" sz="2200" b="1" dirty="0"/>
              <a:t>:</a:t>
            </a:r>
            <a:r>
              <a:rPr lang="hr-HR" sz="2200" dirty="0"/>
              <a:t> Python , </a:t>
            </a:r>
            <a:r>
              <a:rPr lang="hr-HR" sz="2200" dirty="0" err="1"/>
              <a:t>Django</a:t>
            </a:r>
            <a:r>
              <a:rPr lang="hr-HR" sz="2200" dirty="0"/>
              <a:t> </a:t>
            </a:r>
            <a:endParaRPr lang="en-GB" sz="2200" dirty="0"/>
          </a:p>
          <a:p>
            <a:pPr marL="800100" lvl="1"/>
            <a:r>
              <a:rPr lang="en-US" sz="2200" b="1" dirty="0"/>
              <a:t>Frontend:</a:t>
            </a:r>
            <a:r>
              <a:rPr lang="en-US" sz="2200" dirty="0"/>
              <a:t> React Native, Expo</a:t>
            </a:r>
            <a:endParaRPr lang="hr-HR" sz="2200" dirty="0"/>
          </a:p>
          <a:p>
            <a:pPr marL="800100" lvl="1"/>
            <a:r>
              <a:rPr lang="pl-PL" sz="2200" b="1" dirty="0"/>
              <a:t>Baza podataka:</a:t>
            </a:r>
            <a:r>
              <a:rPr lang="pl-PL" sz="2200" dirty="0"/>
              <a:t> PostgreSQL</a:t>
            </a:r>
          </a:p>
          <a:p>
            <a:pPr marL="800100" lvl="1"/>
            <a:r>
              <a:rPr lang="hr-HR" sz="2200" b="1" dirty="0"/>
              <a:t>Stiliziranje</a:t>
            </a:r>
            <a:r>
              <a:rPr lang="hr-HR" sz="2200" dirty="0"/>
              <a:t>:</a:t>
            </a:r>
            <a:r>
              <a:rPr lang="en-US" sz="2200" dirty="0"/>
              <a:t> CSS</a:t>
            </a:r>
          </a:p>
          <a:p>
            <a:pPr marL="800100" lvl="1"/>
            <a:r>
              <a:rPr lang="hr-HR" sz="2200" b="1" dirty="0"/>
              <a:t>Razvoj i modeliranje:</a:t>
            </a:r>
            <a:r>
              <a:rPr lang="hr-HR" sz="2200" dirty="0"/>
              <a:t> </a:t>
            </a:r>
            <a:r>
              <a:rPr lang="hr-HR" sz="2200" dirty="0" err="1"/>
              <a:t>Visual</a:t>
            </a:r>
            <a:r>
              <a:rPr lang="hr-HR" sz="2200" dirty="0"/>
              <a:t> Studio </a:t>
            </a:r>
            <a:r>
              <a:rPr lang="hr-HR" sz="2200" dirty="0" err="1"/>
              <a:t>Code</a:t>
            </a:r>
            <a:r>
              <a:rPr lang="hr-HR" sz="2200" dirty="0"/>
              <a:t>, </a:t>
            </a:r>
            <a:r>
              <a:rPr lang="hr-HR" sz="2200" dirty="0" err="1"/>
              <a:t>Astah</a:t>
            </a:r>
            <a:r>
              <a:rPr lang="hr-HR" sz="2200" dirty="0"/>
              <a:t>, </a:t>
            </a:r>
            <a:r>
              <a:rPr lang="hr-HR" sz="2200" dirty="0" err="1"/>
              <a:t>Visual</a:t>
            </a:r>
            <a:r>
              <a:rPr lang="hr-HR" sz="2200" dirty="0"/>
              <a:t> </a:t>
            </a:r>
            <a:r>
              <a:rPr lang="hr-HR" sz="2200" dirty="0" err="1"/>
              <a:t>Paradigm</a:t>
            </a:r>
            <a:r>
              <a:rPr lang="hr-HR" sz="2200" dirty="0"/>
              <a:t>, </a:t>
            </a:r>
            <a:r>
              <a:rPr lang="hr-HR" sz="2200" dirty="0" err="1"/>
              <a:t>ERDPlus</a:t>
            </a:r>
            <a:endParaRPr lang="hr-HR" sz="2200" dirty="0"/>
          </a:p>
          <a:p>
            <a:pPr marL="800100" lvl="1"/>
            <a:r>
              <a:rPr lang="hr-HR" sz="2200" b="1" dirty="0"/>
              <a:t>Kontrola verzija:</a:t>
            </a:r>
            <a:r>
              <a:rPr lang="hr-HR" sz="2200" dirty="0"/>
              <a:t> </a:t>
            </a:r>
            <a:r>
              <a:rPr lang="hr-HR" sz="2200" dirty="0" err="1"/>
              <a:t>Git</a:t>
            </a:r>
            <a:r>
              <a:rPr lang="hr-HR" sz="2200" dirty="0"/>
              <a:t>, </a:t>
            </a:r>
            <a:r>
              <a:rPr lang="hr-HR" sz="2200" dirty="0" err="1"/>
              <a:t>GitHub</a:t>
            </a:r>
            <a:r>
              <a:rPr lang="hr-HR" sz="2200" dirty="0"/>
              <a:t>, </a:t>
            </a:r>
            <a:r>
              <a:rPr lang="hr-HR" sz="2200" dirty="0" err="1"/>
              <a:t>GitHub</a:t>
            </a:r>
            <a:r>
              <a:rPr lang="hr-HR" sz="2200" dirty="0"/>
              <a:t> Wiki</a:t>
            </a:r>
          </a:p>
          <a:p>
            <a:pPr marL="800100" lvl="1"/>
            <a:r>
              <a:rPr lang="it-IT" sz="2200" b="1" dirty="0" err="1"/>
              <a:t>Testiranje</a:t>
            </a:r>
            <a:r>
              <a:rPr lang="it-IT" sz="2200" b="1" dirty="0"/>
              <a:t>:</a:t>
            </a:r>
            <a:r>
              <a:rPr lang="it-IT" sz="2200" dirty="0"/>
              <a:t> Unit </a:t>
            </a:r>
            <a:r>
              <a:rPr lang="it-IT" sz="2200" dirty="0" err="1"/>
              <a:t>testovi</a:t>
            </a:r>
            <a:r>
              <a:rPr lang="it-IT" sz="2200" dirty="0"/>
              <a:t> </a:t>
            </a:r>
            <a:r>
              <a:rPr lang="it-IT" sz="2200" dirty="0" err="1"/>
              <a:t>backend</a:t>
            </a:r>
            <a:r>
              <a:rPr lang="it-IT" sz="2200" dirty="0"/>
              <a:t>-a, E2E </a:t>
            </a:r>
            <a:r>
              <a:rPr lang="it-IT" sz="2200" dirty="0" err="1"/>
              <a:t>testovi</a:t>
            </a:r>
            <a:r>
              <a:rPr lang="it-IT" sz="2200" dirty="0"/>
              <a:t> </a:t>
            </a:r>
            <a:r>
              <a:rPr lang="it-IT" sz="2200" dirty="0" err="1"/>
              <a:t>frontend</a:t>
            </a:r>
            <a:r>
              <a:rPr lang="it-IT" sz="2200" dirty="0"/>
              <a:t>-a (Maestro)</a:t>
            </a:r>
            <a:r>
              <a:rPr lang="hr-HR" sz="2200" dirty="0"/>
              <a:t> </a:t>
            </a:r>
          </a:p>
          <a:p>
            <a:pPr marL="800100" lvl="1"/>
            <a:r>
              <a:rPr lang="hr-HR" sz="2200" b="1" dirty="0"/>
              <a:t>Vanjski servisi:</a:t>
            </a:r>
            <a:r>
              <a:rPr lang="hr-HR" sz="2200" dirty="0"/>
              <a:t> </a:t>
            </a:r>
            <a:r>
              <a:rPr lang="hr-HR" sz="2200" dirty="0" err="1"/>
              <a:t>OpenAI</a:t>
            </a:r>
            <a:r>
              <a:rPr lang="hr-HR" sz="2200" dirty="0"/>
              <a:t> API za </a:t>
            </a:r>
            <a:r>
              <a:rPr lang="hr-HR" sz="2200" dirty="0" err="1"/>
              <a:t>ChatBot</a:t>
            </a:r>
            <a:r>
              <a:rPr lang="hr-HR" sz="2200" dirty="0"/>
              <a:t>, Google OAuth2 za autentifikaciju</a:t>
            </a:r>
            <a:endParaRPr lang="hr-HR" sz="2200" noProof="0" dirty="0"/>
          </a:p>
          <a:p>
            <a:r>
              <a:rPr lang="hr-HR" sz="2600" dirty="0"/>
              <a:t>Aplikacija </a:t>
            </a:r>
            <a:r>
              <a:rPr lang="hr-HR" sz="2600" dirty="0" err="1"/>
              <a:t>Deployana</a:t>
            </a:r>
            <a:r>
              <a:rPr lang="hr-HR" sz="2600" dirty="0"/>
              <a:t> na </a:t>
            </a:r>
            <a:r>
              <a:rPr lang="hr-HR" sz="2600" dirty="0" err="1"/>
              <a:t>Heroku</a:t>
            </a:r>
            <a:endParaRPr lang="hr-HR" sz="2600" dirty="0"/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01C90-BA54-BEB0-4629-47BCB808B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49F8D-571F-0860-F870-57216E5A9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/>
              <a:t>Organizacija rada</a:t>
            </a:r>
            <a:endParaRPr lang="hr-HR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B9157-B5C3-4EBE-BE9B-B63022159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Neprogramski (organizacijski) zadaci</a:t>
            </a:r>
          </a:p>
          <a:p>
            <a:pPr lvl="1"/>
            <a:r>
              <a:rPr lang="hr-HR" noProof="0" dirty="0"/>
              <a:t>Organizacija komunikacije: </a:t>
            </a:r>
            <a:r>
              <a:rPr lang="hr-HR" dirty="0"/>
              <a:t>Microsoft </a:t>
            </a:r>
            <a:r>
              <a:rPr lang="hr-HR" dirty="0" err="1"/>
              <a:t>Teams</a:t>
            </a:r>
            <a:r>
              <a:rPr lang="hr-HR" dirty="0"/>
              <a:t>, WhatsApp, </a:t>
            </a:r>
            <a:r>
              <a:rPr lang="hr-HR" dirty="0" err="1"/>
              <a:t>Discord</a:t>
            </a:r>
            <a:endParaRPr lang="hr-HR" noProof="0" dirty="0"/>
          </a:p>
          <a:p>
            <a:pPr lvl="1"/>
            <a:r>
              <a:rPr lang="hr-HR" dirty="0"/>
              <a:t>Primijenjen model je agilni SDLC: dva iterativna ciklusa razvoja, prilagodba rada nakon povratnih informacija iz prve faze, naglasak na komunikaciji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9563D-B360-738D-3AC3-B88209D6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15</a:t>
            </a:fld>
            <a:endParaRPr lang="hr-HR" dirty="0"/>
          </a:p>
        </p:txBody>
      </p:sp>
      <p:pic>
        <p:nvPicPr>
          <p:cNvPr id="6" name="Slika 5" descr="Slika na kojoj se prikazuje snimka zaslona, tekst, Multimedijski softver, softver&#10;&#10;Sadržaj generiran uz AI možda nije točan.">
            <a:extLst>
              <a:ext uri="{FF2B5EF4-FFF2-40B4-BE49-F238E27FC236}">
                <a16:creationId xmlns:a16="http://schemas.microsoft.com/office/drawing/2014/main" id="{D2472FF7-05D7-BBF5-7DA6-076F20236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8" y="2610308"/>
            <a:ext cx="9072001" cy="376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96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24722E-F03E-9E4E-F564-88E29E45F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6B4480E-B7FF-4481-890E-043A69AE6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9394E1F-0B5F-497D-B2A6-8383A2A54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28551" y="457200"/>
            <a:ext cx="2777491" cy="5935133"/>
            <a:chOff x="438068" y="457200"/>
            <a:chExt cx="3703320" cy="5935133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F1FF39A-AC3C-4066-9D4C-519AA2281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01201"/>
              <a:ext cx="3702134" cy="5791132"/>
            </a:xfrm>
            <a:prstGeom prst="rect">
              <a:avLst/>
            </a:prstGeom>
            <a:solidFill>
              <a:srgbClr val="465359">
                <a:alpha val="97000"/>
              </a:srgb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r-H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4C13BAB-7C00-4D21-A857-E3D41C0A2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rgbClr val="4653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r-HR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1642783-26D9-99DA-653F-4D3DC2EFF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1524001"/>
            <a:ext cx="2559050" cy="34783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457200"/>
            <a:r>
              <a:rPr lang="en-US" noProof="0">
                <a:solidFill>
                  <a:srgbClr val="FFFFFF"/>
                </a:solidFill>
              </a:rPr>
              <a:t>Organizacija rada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16556-6E04-BF29-6BAB-C0753BD26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90799" y="766070"/>
            <a:ext cx="40700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en-US" sz="9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 sz="900">
              <a:solidFill>
                <a:srgbClr val="FFFFFF"/>
              </a:solidFill>
            </a:endParaRPr>
          </a:p>
        </p:txBody>
      </p:sp>
      <p:pic>
        <p:nvPicPr>
          <p:cNvPr id="9" name="Rezervirano mjesto sadržaja 8" descr="Slika na kojoj se prikazuje tekst, snimka zaslona, izbornik&#10;&#10;Sadržaj generiran uz AI možda nije točan.">
            <a:extLst>
              <a:ext uri="{FF2B5EF4-FFF2-40B4-BE49-F238E27FC236}">
                <a16:creationId xmlns:a16="http://schemas.microsoft.com/office/drawing/2014/main" id="{A7CC769D-73BA-E00E-4B93-82595F6A95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641" y="182541"/>
            <a:ext cx="5720732" cy="639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00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0A0F4CC-F443-40C1-B000-840650808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F3DAE6-FFD2-4E7C-8FB8-E958A2586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2F7A394-B482-4D36-A98E-11A3212A1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4308965-434A-4011-8316-8ABEFFED0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910B0D-8E24-46E7-93D7-329948C60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899" y="457200"/>
            <a:ext cx="4207038" cy="952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215A71-CFAF-4964-A613-D07F75FC1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1776" y="453825"/>
            <a:ext cx="4197324" cy="983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pic>
        <p:nvPicPr>
          <p:cNvPr id="14" name="Rezervirano mjesto sadržaja 13" descr="Slika na kojoj se prikazuje tekst, snimka zaslona, logotip, Font&#10;&#10;Sadržaj generiran uz AI možda nije točan.">
            <a:extLst>
              <a:ext uri="{FF2B5EF4-FFF2-40B4-BE49-F238E27FC236}">
                <a16:creationId xmlns:a16="http://schemas.microsoft.com/office/drawing/2014/main" id="{3E8578F7-DFAD-B054-A13C-79887468C8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109" y="643467"/>
            <a:ext cx="2576618" cy="5571067"/>
          </a:xfrm>
          <a:prstGeom prst="rect">
            <a:avLst/>
          </a:prstGeom>
        </p:spPr>
      </p:pic>
      <p:pic>
        <p:nvPicPr>
          <p:cNvPr id="16" name="Slika 15" descr="Slika na kojoj se prikazuje tekst, snimka zaslona, Font, dizajn&#10;&#10;Sadržaj generiran uz AI možda nije točan.">
            <a:extLst>
              <a:ext uri="{FF2B5EF4-FFF2-40B4-BE49-F238E27FC236}">
                <a16:creationId xmlns:a16="http://schemas.microsoft.com/office/drawing/2014/main" id="{7CB4B579-0A37-7F8E-85CE-3AB5846A6B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129" y="643467"/>
            <a:ext cx="2576618" cy="55710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6D2D5-F8F8-3548-34C0-61BDD7AA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6423914"/>
            <a:ext cx="78938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en-US" sz="900" smtClean="0"/>
              <a:pPr>
                <a:spcAft>
                  <a:spcPts val="600"/>
                </a:spcAft>
              </a:pPr>
              <a:t>17</a:t>
            </a:fld>
            <a:endParaRPr lang="en-US" sz="900" dirty="0"/>
          </a:p>
        </p:txBody>
      </p:sp>
      <p:sp>
        <p:nvSpPr>
          <p:cNvPr id="17" name="TekstniOkvir 16">
            <a:extLst>
              <a:ext uri="{FF2B5EF4-FFF2-40B4-BE49-F238E27FC236}">
                <a16:creationId xmlns:a16="http://schemas.microsoft.com/office/drawing/2014/main" id="{2E8FA397-FEF4-2398-F0F8-F88EE7F59F82}"/>
              </a:ext>
            </a:extLst>
          </p:cNvPr>
          <p:cNvSpPr txBox="1"/>
          <p:nvPr/>
        </p:nvSpPr>
        <p:spPr>
          <a:xfrm>
            <a:off x="1318624" y="6118679"/>
            <a:ext cx="238052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000" b="1" dirty="0" err="1"/>
              <a:t>Landing</a:t>
            </a:r>
            <a:r>
              <a:rPr lang="hr-HR" sz="3000" b="1" dirty="0"/>
              <a:t> Page</a:t>
            </a:r>
          </a:p>
        </p:txBody>
      </p:sp>
      <p:sp>
        <p:nvSpPr>
          <p:cNvPr id="18" name="TekstniOkvir 17">
            <a:extLst>
              <a:ext uri="{FF2B5EF4-FFF2-40B4-BE49-F238E27FC236}">
                <a16:creationId xmlns:a16="http://schemas.microsoft.com/office/drawing/2014/main" id="{DBDBC16F-9A0E-0314-9F44-76F59AE1D855}"/>
              </a:ext>
            </a:extLst>
          </p:cNvPr>
          <p:cNvSpPr txBox="1"/>
          <p:nvPr/>
        </p:nvSpPr>
        <p:spPr>
          <a:xfrm>
            <a:off x="6209339" y="6118679"/>
            <a:ext cx="105990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000" b="1" dirty="0"/>
              <a:t>Login</a:t>
            </a:r>
          </a:p>
        </p:txBody>
      </p:sp>
    </p:spTree>
    <p:extLst>
      <p:ext uri="{BB962C8B-B14F-4D97-AF65-F5344CB8AC3E}">
        <p14:creationId xmlns:p14="http://schemas.microsoft.com/office/powerpoint/2010/main" val="3208602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7CB4A0-4432-B4B7-361A-8CBB08641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1DDC3EF6-2EA5-44B3-94C7-9DDA67A12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7925A9A-E9FA-496E-9C09-7C2845E00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073ABB4-E164-4CBF-ADFF-25552BB7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259A422-0023-4292-8200-E080556F3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079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2413CA5-4739-4BC9-8BB3-B0A4928D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Rezervirano mjesto sadržaja 5" descr="Slika na kojoj se prikazuje tekst, snimka zaslona, Font, broj&#10;&#10;Sadržaj generiran uz AI možda nije točan.">
            <a:extLst>
              <a:ext uri="{FF2B5EF4-FFF2-40B4-BE49-F238E27FC236}">
                <a16:creationId xmlns:a16="http://schemas.microsoft.com/office/drawing/2014/main" id="{66CC3D71-294D-960F-E891-2C2E8C835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992" y="677757"/>
            <a:ext cx="2576618" cy="55710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D4D87-7CEE-A7F0-CB99-7FA94F99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6384762"/>
            <a:ext cx="78938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en-US" sz="90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18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484C24CD-3BD1-21E6-47D3-09E891135D83}"/>
              </a:ext>
            </a:extLst>
          </p:cNvPr>
          <p:cNvSpPr txBox="1"/>
          <p:nvPr/>
        </p:nvSpPr>
        <p:spPr>
          <a:xfrm>
            <a:off x="1723645" y="2689435"/>
            <a:ext cx="12410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000" b="1" dirty="0"/>
              <a:t>Home </a:t>
            </a:r>
            <a:br>
              <a:rPr lang="hr-HR" sz="3000" b="1" dirty="0"/>
            </a:br>
            <a:r>
              <a:rPr lang="hr-HR" sz="3000" b="1" dirty="0"/>
              <a:t>Page</a:t>
            </a:r>
          </a:p>
        </p:txBody>
      </p:sp>
    </p:spTree>
    <p:extLst>
      <p:ext uri="{BB962C8B-B14F-4D97-AF65-F5344CB8AC3E}">
        <p14:creationId xmlns:p14="http://schemas.microsoft.com/office/powerpoint/2010/main" val="3713883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FA6DEF-7245-0C80-5418-EAAF1C6BC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0A0F4CC-F443-40C1-B000-840650808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FF3DAE6-FFD2-4E7C-8FB8-E958A2586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2F7A394-B482-4D36-A98E-11A3212A1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7886309-8F28-488F-8BA9-0BF7494C8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0D5ABE4-8A47-4A84-9DB4-CCB7A3D42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4152867" cy="5897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Rezervirano mjesto sadržaja 5" descr="Slika na kojoj se prikazuje tekst, snimka zaslona, Font&#10;&#10;Sadržaj generiran uz AI možda nije točan.">
            <a:extLst>
              <a:ext uri="{FF2B5EF4-FFF2-40B4-BE49-F238E27FC236}">
                <a16:creationId xmlns:a16="http://schemas.microsoft.com/office/drawing/2014/main" id="{79C0201B-C1FE-DB4C-301E-2452A252E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407" y="643467"/>
            <a:ext cx="2576618" cy="5571066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D8EB06DC-2D36-4101-B5B2-45B5B1EEC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1276" y="480060"/>
            <a:ext cx="4148677" cy="5897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Slika 7" descr="Slika na kojoj se prikazuje tekst, snimka zaslona, Mobitel, multimedija&#10;&#10;Sadržaj generiran uz AI možda nije točan.">
            <a:extLst>
              <a:ext uri="{FF2B5EF4-FFF2-40B4-BE49-F238E27FC236}">
                <a16:creationId xmlns:a16="http://schemas.microsoft.com/office/drawing/2014/main" id="{1BB47A96-CAE5-DAF1-F60B-2729BE664C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449" y="643467"/>
            <a:ext cx="2576618" cy="55710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75AE7-0E34-54AD-743F-A0F40773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6386444"/>
            <a:ext cx="78938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en-US" sz="90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19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9" name="TekstniOkvir 8">
            <a:extLst>
              <a:ext uri="{FF2B5EF4-FFF2-40B4-BE49-F238E27FC236}">
                <a16:creationId xmlns:a16="http://schemas.microsoft.com/office/drawing/2014/main" id="{FDD9079B-D4F0-C91D-5FDC-71EF74737F0C}"/>
              </a:ext>
            </a:extLst>
          </p:cNvPr>
          <p:cNvSpPr txBox="1"/>
          <p:nvPr/>
        </p:nvSpPr>
        <p:spPr>
          <a:xfrm>
            <a:off x="3356560" y="451842"/>
            <a:ext cx="117692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000" b="1" dirty="0"/>
              <a:t>Grupa</a:t>
            </a:r>
          </a:p>
        </p:txBody>
      </p:sp>
    </p:spTree>
    <p:extLst>
      <p:ext uri="{BB962C8B-B14F-4D97-AF65-F5344CB8AC3E}">
        <p14:creationId xmlns:p14="http://schemas.microsoft.com/office/powerpoint/2010/main" val="512419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742FCE-ABAB-4D48-B611-634CE088D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0A0F4CC-F443-40C1-B000-840650808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FF3DAE6-FFD2-4E7C-8FB8-E958A2586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2F7A394-B482-4D36-A98E-11A3212A1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7886309-8F28-488F-8BA9-0BF7494C8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0D5ABE4-8A47-4A84-9DB4-CCB7A3D42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4152867" cy="5897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Slika 7" descr="Slika na kojoj se prikazuje tekst, snimka zaslona, multimedija, spravica&#10;&#10;Sadržaj generiran uz AI možda nije točan.">
            <a:extLst>
              <a:ext uri="{FF2B5EF4-FFF2-40B4-BE49-F238E27FC236}">
                <a16:creationId xmlns:a16="http://schemas.microsoft.com/office/drawing/2014/main" id="{5525CCBD-AE7A-3AAB-5F08-210D9543C0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407" y="643467"/>
            <a:ext cx="2576618" cy="5571066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D8EB06DC-2D36-4101-B5B2-45B5B1EEC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1276" y="480060"/>
            <a:ext cx="4148677" cy="5897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Rezervirano mjesto sadržaja 5" descr="Slika na kojoj se prikazuje tekst, snimka zaslona, Font&#10;&#10;Sadržaj generiran uz AI možda nije točan.">
            <a:extLst>
              <a:ext uri="{FF2B5EF4-FFF2-40B4-BE49-F238E27FC236}">
                <a16:creationId xmlns:a16="http://schemas.microsoft.com/office/drawing/2014/main" id="{2B18EEF1-8765-08E9-E891-DE752457C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449" y="643467"/>
            <a:ext cx="2576618" cy="55710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C1AB1-CD2D-5B3E-879C-412D1445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6386444"/>
            <a:ext cx="78938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en-US" sz="90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20</a:t>
            </a:fld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975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0BBA2-3996-D2BA-7138-B8894FD75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BFE9008-3B1F-E3D9-9715-45DAC5312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8B1C4B1-440C-B368-3E5A-C0012CB0A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20B0AE8-FE1C-AE1F-91A4-54137BCEB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E55B520-FEBC-D416-DA03-9D520B7BD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F3C46C8-7963-A292-772E-436F24A1B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4152867" cy="5897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2A6DDE-7217-952C-FF5B-2B611C7C8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1276" y="480060"/>
            <a:ext cx="4148677" cy="5897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0614D-1565-DBEA-AAEE-F8FD1F5BE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6386444"/>
            <a:ext cx="78938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en-US" sz="900" smtClean="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21</a:t>
            </a:fld>
            <a:endParaRPr lang="en-US" sz="900">
              <a:solidFill>
                <a:schemeClr val="bg1"/>
              </a:solidFill>
            </a:endParaRPr>
          </a:p>
        </p:txBody>
      </p:sp>
      <p:pic>
        <p:nvPicPr>
          <p:cNvPr id="12" name="Rezervirano mjesto sadržaja 11" descr="Slika na kojoj se prikazuje tekst, pisač, snimka zaslona, dizajn&#10;&#10;Sadržaj generiran uz AI možda nije točan.">
            <a:extLst>
              <a:ext uri="{FF2B5EF4-FFF2-40B4-BE49-F238E27FC236}">
                <a16:creationId xmlns:a16="http://schemas.microsoft.com/office/drawing/2014/main" id="{88B2CBEE-2E06-3BE4-5419-43CE87FA33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559" y="728662"/>
            <a:ext cx="2492010" cy="5400675"/>
          </a:xfrm>
        </p:spPr>
      </p:pic>
      <p:pic>
        <p:nvPicPr>
          <p:cNvPr id="14" name="Slika 13" descr="Slika na kojoj se prikazuje tekst, snimka zaslona&#10;&#10;Sadržaj generiran uz AI možda nije točan.">
            <a:extLst>
              <a:ext uri="{FF2B5EF4-FFF2-40B4-BE49-F238E27FC236}">
                <a16:creationId xmlns:a16="http://schemas.microsoft.com/office/drawing/2014/main" id="{44C4E498-E199-18D1-63F6-B8A43E0F59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57" y="732243"/>
            <a:ext cx="2605070" cy="5645697"/>
          </a:xfrm>
          <a:prstGeom prst="rect">
            <a:avLst/>
          </a:prstGeom>
        </p:spPr>
      </p:pic>
      <p:sp>
        <p:nvSpPr>
          <p:cNvPr id="15" name="TekstniOkvir 14">
            <a:extLst>
              <a:ext uri="{FF2B5EF4-FFF2-40B4-BE49-F238E27FC236}">
                <a16:creationId xmlns:a16="http://schemas.microsoft.com/office/drawing/2014/main" id="{5F2BD191-7D27-0FC3-189E-64E35263E824}"/>
              </a:ext>
            </a:extLst>
          </p:cNvPr>
          <p:cNvSpPr txBox="1"/>
          <p:nvPr/>
        </p:nvSpPr>
        <p:spPr>
          <a:xfrm>
            <a:off x="4750751" y="4481065"/>
            <a:ext cx="38316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000" b="1" dirty="0"/>
              <a:t>Dodavanje Transakcije</a:t>
            </a:r>
          </a:p>
        </p:txBody>
      </p:sp>
    </p:spTree>
    <p:extLst>
      <p:ext uri="{BB962C8B-B14F-4D97-AF65-F5344CB8AC3E}">
        <p14:creationId xmlns:p14="http://schemas.microsoft.com/office/powerpoint/2010/main" val="3301116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901599-5A49-2D65-7449-AE30203E8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CE6664F4-3400-2058-628F-C4450F22B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873C65-313C-BCE3-0424-1F6ACDC042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F0AB86C-0FE9-AE2A-55A0-CC8530477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EC3ACDB-D287-FF20-14C4-2ADB93EA6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B9DB9C2-7964-A36F-AA80-C8B961B0E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4152867" cy="5897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7D00BC1-305F-270F-C566-A502A43B1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1276" y="480060"/>
            <a:ext cx="4148677" cy="5897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6B4EE-5346-89F2-8017-836F200F9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6386444"/>
            <a:ext cx="78938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en-US" sz="90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22</a:t>
            </a:fld>
            <a:endParaRPr lang="en-US" sz="900">
              <a:solidFill>
                <a:schemeClr val="bg1"/>
              </a:solidFill>
            </a:endParaRPr>
          </a:p>
        </p:txBody>
      </p:sp>
      <p:pic>
        <p:nvPicPr>
          <p:cNvPr id="7" name="Rezervirano mjesto sadržaja 6" descr="Slika na kojoj se prikazuje tekst, snimka zaslona, Font, broj&#10;&#10;Sadržaj generiran uz AI možda nije točan.">
            <a:extLst>
              <a:ext uri="{FF2B5EF4-FFF2-40B4-BE49-F238E27FC236}">
                <a16:creationId xmlns:a16="http://schemas.microsoft.com/office/drawing/2014/main" id="{2D96A77B-0B29-F91C-6194-89D6F8FE28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310" y="762952"/>
            <a:ext cx="2492010" cy="5400675"/>
          </a:xfrm>
        </p:spPr>
      </p:pic>
      <p:pic>
        <p:nvPicPr>
          <p:cNvPr id="10" name="Slika 9" descr="Slika na kojoj se prikazuje tekst, snimka zaslona, softver, dizajn&#10;&#10;Sadržaj generiran uz AI možda nije točan.">
            <a:extLst>
              <a:ext uri="{FF2B5EF4-FFF2-40B4-BE49-F238E27FC236}">
                <a16:creationId xmlns:a16="http://schemas.microsoft.com/office/drawing/2014/main" id="{A5EE3D87-E310-3CFF-B2F0-37058A3362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680" y="762952"/>
            <a:ext cx="2408254" cy="52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837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335E35-BB4E-8C8C-BF10-C3574899C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8F9C6DF-35B2-2901-BBF3-88453B2B4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DC7244-5BD0-05F4-50CE-68D52C979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2DB6644-9599-8B82-3C7E-AD845DC7B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B8E2E14-D1AB-F982-8518-E9C6E0FD5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079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8368BD8-2B61-E215-A881-32088DC4F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16356-C7E2-866A-4363-918569180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6384762"/>
            <a:ext cx="78938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en-US" sz="90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23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5D393838-262F-2CE4-0004-F272CE08B8D5}"/>
              </a:ext>
            </a:extLst>
          </p:cNvPr>
          <p:cNvSpPr txBox="1"/>
          <p:nvPr/>
        </p:nvSpPr>
        <p:spPr>
          <a:xfrm>
            <a:off x="1723645" y="2689435"/>
            <a:ext cx="13101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000" b="1" dirty="0"/>
              <a:t>Profile </a:t>
            </a:r>
            <a:br>
              <a:rPr lang="hr-HR" sz="3000" b="1" dirty="0"/>
            </a:br>
            <a:r>
              <a:rPr lang="hr-HR" sz="3000" b="1" dirty="0"/>
              <a:t>Page</a:t>
            </a:r>
          </a:p>
        </p:txBody>
      </p:sp>
      <p:pic>
        <p:nvPicPr>
          <p:cNvPr id="3" name="Slika 2" descr="Slika na kojoj se prikazuje tekst, snimka zaslona, Font, dizajn&#10;&#10;Sadržaj generiran uz AI možda nije točan.">
            <a:extLst>
              <a:ext uri="{FF2B5EF4-FFF2-40B4-BE49-F238E27FC236}">
                <a16:creationId xmlns:a16="http://schemas.microsoft.com/office/drawing/2014/main" id="{1649A0BA-7479-04A4-C24D-59B690C79A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506" y="669848"/>
            <a:ext cx="2664277" cy="551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326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Tijekom izrade projekta </a:t>
            </a:r>
            <a:r>
              <a:rPr lang="hr-HR" dirty="0" err="1"/>
              <a:t>Računko</a:t>
            </a:r>
            <a:r>
              <a:rPr lang="hr-HR" dirty="0"/>
              <a:t> stekli smo vrijedna znanja i iskustva u planiranju i razvoju mobilne aplikacije, kao i u primjeni suvremenih tehnologija i alata. </a:t>
            </a:r>
          </a:p>
          <a:p>
            <a:r>
              <a:rPr lang="hr-HR" dirty="0"/>
              <a:t>Kvaliteta i pouzdanost sustava osigurane su provedbom </a:t>
            </a:r>
            <a:r>
              <a:rPr lang="hr-HR" dirty="0" err="1"/>
              <a:t>unit</a:t>
            </a:r>
            <a:r>
              <a:rPr lang="hr-HR" dirty="0"/>
              <a:t> testova na </a:t>
            </a:r>
            <a:r>
              <a:rPr lang="hr-HR" dirty="0" err="1"/>
              <a:t>backendu</a:t>
            </a:r>
            <a:r>
              <a:rPr lang="hr-HR" dirty="0"/>
              <a:t> te E2E testova </a:t>
            </a:r>
            <a:r>
              <a:rPr lang="hr-HR" dirty="0" err="1"/>
              <a:t>frontend</a:t>
            </a:r>
            <a:r>
              <a:rPr lang="hr-HR" dirty="0"/>
              <a:t>-a pomoću alata Maestro. </a:t>
            </a:r>
          </a:p>
          <a:p>
            <a:r>
              <a:rPr lang="hr-HR" dirty="0"/>
              <a:t>Jasna podjela zadataka među članovima tima omogućila je uspješnu realizaciju svih projektnih zahtjeva, unatoč izazovima tijekom razvoja.</a:t>
            </a: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1465</TotalTime>
  <Words>596</Words>
  <Application>Microsoft Office PowerPoint</Application>
  <PresentationFormat>On-screen Show (4:3)</PresentationFormat>
  <Paragraphs>139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8" baseType="lpstr">
      <vt:lpstr>ＭＳ Ｐゴシック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&lt;Računko&gt;</vt:lpstr>
      <vt:lpstr>Sadržaj</vt:lpstr>
      <vt:lpstr>Sadržaj</vt:lpstr>
      <vt:lpstr>Članovi grupe</vt:lpstr>
      <vt:lpstr>O projektu</vt:lpstr>
      <vt:lpstr>O projektu</vt:lpstr>
      <vt:lpstr>Pregled zahtjeva</vt:lpstr>
      <vt:lpstr>Pregled zahtjeva</vt:lpstr>
      <vt:lpstr>UML dijagram obrazaca uporabe</vt:lpstr>
      <vt:lpstr>Dijagram razreda</vt:lpstr>
      <vt:lpstr>Dijagram komponenata</vt:lpstr>
      <vt:lpstr>Dijagram razmještaja</vt:lpstr>
      <vt:lpstr>Ispitivanje</vt:lpstr>
      <vt:lpstr>Korišteni alati i tehnologije</vt:lpstr>
      <vt:lpstr>Organizacija rada</vt:lpstr>
      <vt:lpstr>Organizacija rada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Luka Kovačević</cp:lastModifiedBy>
  <cp:revision>26</cp:revision>
  <dcterms:created xsi:type="dcterms:W3CDTF">2016-01-18T13:10:52Z</dcterms:created>
  <dcterms:modified xsi:type="dcterms:W3CDTF">2026-01-23T22:46:52Z</dcterms:modified>
</cp:coreProperties>
</file>