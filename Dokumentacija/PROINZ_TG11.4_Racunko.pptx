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6.xml" ContentType="application/vnd.openxmlformats-officedocument.theme+xml"/>
  <Override PartName="/ppt/theme/theme14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_rels/presentation.xml.rels" ContentType="application/vnd.openxmlformats-package.relationships+xml"/>
  <Override PartName="/ppt/media/image28.jpeg" ContentType="image/jpeg"/>
  <Override PartName="/ppt/media/image18.png" ContentType="image/png"/>
  <Override PartName="/ppt/media/image27.jpeg" ContentType="image/jpeg"/>
  <Override PartName="/ppt/media/image1.png" ContentType="image/png"/>
  <Override PartName="/ppt/media/image16.png" ContentType="image/png"/>
  <Override PartName="/ppt/media/image7.png" ContentType="image/png"/>
  <Override PartName="/ppt/media/image22.jpeg" ContentType="image/jpeg"/>
  <Override PartName="/ppt/media/image11.png" ContentType="image/png"/>
  <Override PartName="/ppt/media/image2.png" ContentType="image/png"/>
  <Override PartName="/ppt/media/image30.jpeg" ContentType="image/jpeg"/>
  <Override PartName="/ppt/media/image9.png" ContentType="image/png"/>
  <Override PartName="/ppt/media/image3.png" ContentType="image/png"/>
  <Override PartName="/ppt/media/image12.png" ContentType="image/png"/>
  <Override PartName="/ppt/media/hdphoto1.wdp" ContentType="image/vnd.ms-photo"/>
  <Override PartName="/ppt/media/image29.jpeg" ContentType="image/jpeg"/>
  <Override PartName="/ppt/media/image31.jpeg" ContentType="image/jpeg"/>
  <Override PartName="/ppt/media/image6.png" ContentType="image/png"/>
  <Override PartName="/ppt/media/image15.png" ContentType="image/png"/>
  <Override PartName="/ppt/media/image8.png" ContentType="image/png"/>
  <Override PartName="/ppt/media/image4.png" ContentType="image/png"/>
  <Override PartName="/ppt/media/image13.png" ContentType="image/png"/>
  <Override PartName="/ppt/media/image5.svg" ContentType="image/svg"/>
  <Override PartName="/ppt/media/image14.png" ContentType="image/png"/>
  <Override PartName="/ppt/media/image26.jpeg" ContentType="image/jpeg"/>
  <Override PartName="/ppt/media/image19.jpeg" ContentType="image/jpeg"/>
  <Override PartName="/ppt/media/image21.jpeg" ContentType="image/jpeg"/>
  <Override PartName="/ppt/media/image17.png" ContentType="image/png"/>
  <Override PartName="/ppt/media/image20.jpeg" ContentType="image/jpeg"/>
  <Override PartName="/ppt/media/image10.png" ContentType="image/png"/>
  <Override PartName="/ppt/media/image23.jpeg" ContentType="image/jpeg"/>
  <Override PartName="/ppt/media/image24.jpeg" ContentType="image/jpeg"/>
  <Override PartName="/ppt/media/image25.jpeg" ContentType="image/jpe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</p:sldMasterIdLst>
  <p:notesMasterIdLst>
    <p:notesMasterId r:id="rId2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  <p:sldId id="276" r:id="rId48"/>
    <p:sldId id="277" r:id="rId49"/>
    <p:sldId id="278" r:id="rId50"/>
    <p:sldId id="279" r:id="rId51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43" Type="http://schemas.openxmlformats.org/officeDocument/2006/relationships/slide" Target="slides/slide16.xml"/><Relationship Id="rId44" Type="http://schemas.openxmlformats.org/officeDocument/2006/relationships/slide" Target="slides/slide17.xml"/><Relationship Id="rId45" Type="http://schemas.openxmlformats.org/officeDocument/2006/relationships/slide" Target="slides/slide18.xml"/><Relationship Id="rId46" Type="http://schemas.openxmlformats.org/officeDocument/2006/relationships/slide" Target="slides/slide19.xml"/><Relationship Id="rId47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hr-HR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hr-H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 type="dt" idx="5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PlaceHolder 5"/>
          <p:cNvSpPr>
            <a:spLocks noGrp="1"/>
          </p:cNvSpPr>
          <p:nvPr>
            <p:ph type="ftr" idx="5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PlaceHolder 6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3911F23-B3BB-4B26-BCCB-0E9696F61E89}" type="slidenum"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hr-H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hr-HR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D82210E-843A-42DF-B7F2-8AAD5390E1CE}" type="slidenum">
              <a:rPr b="0" lang="hr-HR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hr-H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hr-HR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BE3AF4-3103-4155-83C7-C6482362C96D}" type="slidenum">
              <a:rPr b="0" lang="hr-HR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Just list no need to elaborate in this stage!</a:t>
            </a:r>
            <a:endParaRPr b="0" lang="hr-H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hr-HR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61D5EE-2F81-4336-BEAC-CDFF5909983B}" type="slidenum">
              <a:rPr b="0" lang="hr-HR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hr-HR" sz="2000" spc="-1" strike="noStrike">
                <a:solidFill>
                  <a:srgbClr val="000000"/>
                </a:solidFill>
                <a:latin typeface="Arial"/>
              </a:rPr>
              <a:t>Navedite samo svoju viziju projektne ideje...</a:t>
            </a:r>
            <a:endParaRPr b="0" lang="hr-H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hr-HR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5AC425-6CFB-4DEC-B80F-BF79324A18E3}" type="slidenum">
              <a:rPr b="0" lang="hr-HR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hr-HR" sz="2000" spc="-1" strike="noStrike">
                <a:solidFill>
                  <a:srgbClr val="000000"/>
                </a:solidFill>
                <a:latin typeface="Arial"/>
              </a:rPr>
              <a:t>Navedite samo svoju viziju projektne ideje...</a:t>
            </a:r>
            <a:endParaRPr b="0" lang="hr-H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hr-HR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E6DE9CB-D970-496B-A889-0CC77534AA9F}" type="slidenum">
              <a:rPr b="0" lang="hr-HR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C9AD598-3A67-4DBC-869A-63FE76A5D1C3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447651-5BE3-4D1B-9D55-28517822B19D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522CD85D-DB48-4605-A20B-E05C38B66503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9B008C2-7113-4BE3-AF36-6056E9B8EB46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hr-H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4846CDD-5CAD-43A7-9E51-A6E4B08D06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hr-H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7FFC868-C5BF-438D-9BDA-88D9B3945B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E6F0BB9-AA31-4F71-8D39-1FFE555914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50C3E79-C5DD-4960-A7D4-4217D889F4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Media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4391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4683600" y="972000"/>
            <a:ext cx="4391640" cy="257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/>
          </p:nvPr>
        </p:nvSpPr>
        <p:spPr>
          <a:xfrm>
            <a:off x="4683600" y="3792600"/>
            <a:ext cx="4391640" cy="257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1D08E7D-D694-48F6-AE31-FED7C1F0DC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257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72000" y="3792600"/>
            <a:ext cx="8999640" cy="257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bl" preserve="1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BAEA62D-D2F6-4460-A457-1C181002E0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F73E870-13AC-4912-94B4-EE359B2E49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76D49A46-1E3B-4FE4-893F-D02087B272F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4391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/>
          </p:nvPr>
        </p:nvSpPr>
        <p:spPr>
          <a:xfrm>
            <a:off x="4683600" y="972000"/>
            <a:ext cx="4391640" cy="53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05094A92-7567-42A1-B8E9-BC5679B42F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6222FFA-FE69-4A9F-A9E0-4EC3122440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15FC2FBC-2DE9-456B-BC42-83AC384F7E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E9321836-7BB3-42FD-B0EC-146CBD03E3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106C0E51-2EC9-45D3-854D-9154F1A6FC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6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139406BA-A55B-472A-848D-A0C00DA758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9"/>
          </p:nvPr>
        </p:nvSpPr>
        <p:spPr/>
        <p:txBody>
          <a:bodyPr/>
          <a:p>
            <a:r>
              <a:rPr lang="hr-H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microsoft.com/office/2007/relationships/hdphoto" Target="../media/hdphoto1.wdp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2.png"/><Relationship Id="rId8" Type="http://schemas.openxmlformats.org/officeDocument/2006/relationships/image" Target="../media/image10.png"/><Relationship Id="rId9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ight Triangle 32"/>
          <p:cNvSpPr/>
          <p:nvPr/>
        </p:nvSpPr>
        <p:spPr>
          <a:xfrm flipH="1">
            <a:off x="4496040" y="4722840"/>
            <a:ext cx="4644360" cy="2134800"/>
          </a:xfrm>
          <a:prstGeom prst="rtTriangle">
            <a:avLst/>
          </a:prstGeom>
          <a:blipFill rotWithShape="0">
            <a:blip r:embed="rId2"/>
            <a:srcRect/>
            <a:tile tx="0" ty="5527882" sx="100000" sy="100000" algn="tl"/>
          </a:blipFill>
          <a:ln>
            <a:noFill/>
          </a:ln>
          <a:effectLst>
            <a:softEdge rad="63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86160" y="3685680"/>
            <a:ext cx="7772040" cy="1540800"/>
          </a:xfrm>
          <a:prstGeom prst="rect">
            <a:avLst/>
          </a:prstGeom>
          <a:noFill/>
          <a:ln w="0">
            <a:noFill/>
          </a:ln>
        </p:spPr>
        <p:txBody>
          <a:bodyPr lIns="252000" rIns="252000" tIns="4680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</a:t>
            </a: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to </a:t>
            </a: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edit </a:t>
            </a: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Maste</a:t>
            </a: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r title </a:t>
            </a: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grpSp>
        <p:nvGrpSpPr>
          <p:cNvPr id="2" name="Group 11"/>
          <p:cNvGrpSpPr/>
          <p:nvPr/>
        </p:nvGrpSpPr>
        <p:grpSpPr>
          <a:xfrm>
            <a:off x="0" y="0"/>
            <a:ext cx="1369800" cy="6858000"/>
            <a:chOff x="0" y="0"/>
            <a:chExt cx="1369800" cy="6858000"/>
          </a:xfrm>
        </p:grpSpPr>
        <p:sp>
          <p:nvSpPr>
            <p:cNvPr id="3" name="Rectangle 6"/>
            <p:cNvSpPr/>
            <p:nvPr/>
          </p:nvSpPr>
          <p:spPr>
            <a:xfrm>
              <a:off x="0" y="0"/>
              <a:ext cx="342720" cy="685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4" name="Rectangle 8"/>
            <p:cNvSpPr/>
            <p:nvPr/>
          </p:nvSpPr>
          <p:spPr>
            <a:xfrm rot="16200000">
              <a:off x="514440" y="-511920"/>
              <a:ext cx="342720" cy="136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5" name="Rectangle 10"/>
            <p:cNvSpPr/>
            <p:nvPr/>
          </p:nvSpPr>
          <p:spPr>
            <a:xfrm rot="16200000">
              <a:off x="514440" y="6002640"/>
              <a:ext cx="342720" cy="136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pic>
        <p:nvPicPr>
          <p:cNvPr id="6" name="Picture 13" descr="A close up of a logo&#10;&#10;Description automatically generated"/>
          <p:cNvPicPr/>
          <p:nvPr/>
        </p:nvPicPr>
        <p:blipFill>
          <a:blip r:embed="rId3">
            <a:alphaModFix amt="79000"/>
          </a:blip>
          <a:srcRect l="13477" t="23723" r="15699" b="21457"/>
          <a:stretch/>
        </p:blipFill>
        <p:spPr>
          <a:xfrm>
            <a:off x="7499880" y="308160"/>
            <a:ext cx="1416600" cy="683640"/>
          </a:xfrm>
          <a:prstGeom prst="rect">
            <a:avLst/>
          </a:prstGeom>
          <a:ln w="0">
            <a:noFill/>
          </a:ln>
        </p:spPr>
      </p:pic>
      <p:pic>
        <p:nvPicPr>
          <p:cNvPr id="7" name="Picture 15" descr="A screenshot of a video game&#10;&#10;Description automatically generated"/>
          <p:cNvPicPr/>
          <p:nvPr/>
        </p:nvPicPr>
        <p:blipFill>
          <a:blip r:embed="rId4"/>
          <a:srcRect l="0" t="0" r="0" b="772"/>
          <a:stretch/>
        </p:blipFill>
        <p:spPr>
          <a:xfrm>
            <a:off x="629280" y="543600"/>
            <a:ext cx="2494800" cy="2463120"/>
          </a:xfrm>
          <a:prstGeom prst="rect">
            <a:avLst/>
          </a:prstGeom>
          <a:ln w="0">
            <a:noFill/>
          </a:ln>
        </p:spPr>
      </p:pic>
      <p:sp>
        <p:nvSpPr>
          <p:cNvPr id="8" name="TextBox 17"/>
          <p:cNvSpPr/>
          <p:nvPr/>
        </p:nvSpPr>
        <p:spPr>
          <a:xfrm>
            <a:off x="6299280" y="1651680"/>
            <a:ext cx="315504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 defTabSz="457200">
              <a:lnSpc>
                <a:spcPct val="110000"/>
              </a:lnSpc>
            </a:pPr>
            <a:r>
              <a:rPr b="1" lang="hr-HR" sz="1700" spc="-1" strike="noStrike" cap="small">
                <a:solidFill>
                  <a:srgbClr val="363636"/>
                </a:solidFill>
                <a:latin typeface="Century Gothic"/>
              </a:rPr>
              <a:t>Programsko inženjerstvo</a:t>
            </a:r>
            <a:endParaRPr b="0" lang="hr-H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0000"/>
              </a:lnSpc>
            </a:pPr>
            <a:r>
              <a:rPr b="1" lang="hr-HR" sz="1700" spc="-1" strike="noStrike" cap="small">
                <a:solidFill>
                  <a:srgbClr val="363636"/>
                </a:solidFill>
                <a:latin typeface="Century Gothic"/>
              </a:rPr>
              <a:t>ID 183400</a:t>
            </a:r>
            <a:endParaRPr b="0" lang="hr-HR" sz="1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" name="Group 33"/>
          <p:cNvGrpSpPr/>
          <p:nvPr/>
        </p:nvGrpSpPr>
        <p:grpSpPr>
          <a:xfrm>
            <a:off x="8541720" y="2712960"/>
            <a:ext cx="601920" cy="689400"/>
            <a:chOff x="8541720" y="2712960"/>
            <a:chExt cx="601920" cy="689400"/>
          </a:xfrm>
        </p:grpSpPr>
        <p:sp>
          <p:nvSpPr>
            <p:cNvPr id="10" name="Rectangle 20"/>
            <p:cNvSpPr/>
            <p:nvPr/>
          </p:nvSpPr>
          <p:spPr>
            <a:xfrm>
              <a:off x="9000000" y="271872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11" name="Rectangle 22"/>
            <p:cNvSpPr/>
            <p:nvPr/>
          </p:nvSpPr>
          <p:spPr>
            <a:xfrm>
              <a:off x="8772840" y="271872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12" name="Rectangle 24"/>
            <p:cNvSpPr/>
            <p:nvPr/>
          </p:nvSpPr>
          <p:spPr>
            <a:xfrm>
              <a:off x="8541720" y="2712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pic>
        <p:nvPicPr>
          <p:cNvPr id="13" name="Graphic 3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72440" y="271080"/>
            <a:ext cx="835920" cy="827640"/>
          </a:xfrm>
          <a:prstGeom prst="rect">
            <a:avLst/>
          </a:prstGeom>
          <a:ln w="0">
            <a:noFill/>
          </a:ln>
        </p:spPr>
      </p:pic>
      <p:sp>
        <p:nvSpPr>
          <p:cNvPr id="14" name="TextBox 4"/>
          <p:cNvSpPr/>
          <p:nvPr/>
        </p:nvSpPr>
        <p:spPr>
          <a:xfrm>
            <a:off x="2757240" y="3212640"/>
            <a:ext cx="3369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hr-HR" sz="20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Prezentacija</a:t>
            </a:r>
            <a:r>
              <a:rPr b="0" lang="hr-HR" sz="2000" spc="-1" strike="noStrike">
                <a:solidFill>
                  <a:schemeClr val="dk1"/>
                </a:solidFill>
                <a:latin typeface="Franklin Gothic Demi"/>
              </a:rPr>
              <a:t> </a:t>
            </a:r>
            <a:r>
              <a:rPr b="0" lang="hr-HR" sz="20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projekta</a:t>
            </a:r>
            <a:endParaRPr b="0" lang="hr-H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>
            <a:alphaModFix amt="10000"/>
          </a:blip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23880" y="1709640"/>
            <a:ext cx="788652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23880" y="4589640"/>
            <a:ext cx="788652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grpSp>
        <p:nvGrpSpPr>
          <p:cNvPr id="17" name="Group 6"/>
          <p:cNvGrpSpPr/>
          <p:nvPr/>
        </p:nvGrpSpPr>
        <p:grpSpPr>
          <a:xfrm>
            <a:off x="0" y="0"/>
            <a:ext cx="1369800" cy="6858000"/>
            <a:chOff x="0" y="0"/>
            <a:chExt cx="1369800" cy="6858000"/>
          </a:xfrm>
        </p:grpSpPr>
        <p:sp>
          <p:nvSpPr>
            <p:cNvPr id="18" name="Rectangle 7"/>
            <p:cNvSpPr/>
            <p:nvPr/>
          </p:nvSpPr>
          <p:spPr>
            <a:xfrm>
              <a:off x="0" y="0"/>
              <a:ext cx="342720" cy="685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19" name="Rectangle 8"/>
            <p:cNvSpPr/>
            <p:nvPr/>
          </p:nvSpPr>
          <p:spPr>
            <a:xfrm rot="16200000">
              <a:off x="514440" y="6002640"/>
              <a:ext cx="342720" cy="136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pic>
        <p:nvPicPr>
          <p:cNvPr id="20" name="Picture 10" descr="A screenshot of a video game&#10;&#10;Description automatically generated"/>
          <p:cNvPicPr/>
          <p:nvPr/>
        </p:nvPicPr>
        <p:blipFill>
          <a:blip r:embed="rId3"/>
          <a:srcRect l="0" t="0" r="0" b="772"/>
          <a:stretch/>
        </p:blipFill>
        <p:spPr>
          <a:xfrm>
            <a:off x="7680600" y="120240"/>
            <a:ext cx="1275840" cy="125964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3"/>
          <p:cNvSpPr>
            <a:spLocks noGrp="1"/>
          </p:cNvSpPr>
          <p:nvPr>
            <p:ph type="ftr" idx="1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ffffff"/>
              </a:solidFill>
              <a:latin typeface="Times New Roman"/>
            </a:endParaRPr>
          </a:p>
        </p:txBody>
      </p:sp>
      <p:cxnSp>
        <p:nvCxnSpPr>
          <p:cNvPr id="22" name="Straight Connector 17"/>
          <p:cNvCxnSpPr/>
          <p:nvPr/>
        </p:nvCxnSpPr>
        <p:spPr>
          <a:xfrm flipH="1">
            <a:off x="1071360" y="458100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>
            <a:alphaModFix amt="20000"/>
          </a:blip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520" cy="84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28560" y="1395720"/>
            <a:ext cx="7886520" cy="493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22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Franklin Gothic Book"/>
              <a:buChar char="―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2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2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3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8BE448-C053-44BB-87DF-796DCAB555B7}" type="slidenum">
              <a: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7" name="Picture 9" descr="A screenshot of a video game&#10;&#10;Description automatically generated"/>
          <p:cNvPicPr/>
          <p:nvPr/>
        </p:nvPicPr>
        <p:blipFill>
          <a:blip r:embed="rId3"/>
          <a:srcRect l="36650" t="0" r="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28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29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30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31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cxnSp>
        <p:nvCxnSpPr>
          <p:cNvPr id="32" name="Straight Connector 23"/>
          <p:cNvCxnSpPr/>
          <p:nvPr/>
        </p:nvCxnSpPr>
        <p:spPr>
          <a:xfrm>
            <a:off x="1071360" y="120996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>
            <a:alphaModFix amt="20000"/>
          </a:blip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520" cy="84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4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5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C3A0B1-D038-47CB-8710-BFF2EF62B39A}" type="slidenum">
              <a: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8" name="Picture 9" descr="A screenshot of a video game&#10;&#10;Description automatically generated"/>
          <p:cNvPicPr/>
          <p:nvPr/>
        </p:nvPicPr>
        <p:blipFill>
          <a:blip r:embed="rId3"/>
          <a:srcRect l="36650" t="0" r="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39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40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41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42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cxnSp>
        <p:nvCxnSpPr>
          <p:cNvPr id="43" name="Straight Connector 23"/>
          <p:cNvCxnSpPr/>
          <p:nvPr/>
        </p:nvCxnSpPr>
        <p:spPr>
          <a:xfrm>
            <a:off x="1071360" y="120996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  <p:sp>
        <p:nvSpPr>
          <p:cNvPr id="44" name="PlaceHolder 4"/>
          <p:cNvSpPr>
            <a:spLocks noGrp="1"/>
          </p:cNvSpPr>
          <p:nvPr>
            <p:ph type="body"/>
          </p:nvPr>
        </p:nvSpPr>
        <p:spPr>
          <a:xfrm>
            <a:off x="628560" y="1413000"/>
            <a:ext cx="3885840" cy="476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629240" y="1413000"/>
            <a:ext cx="3885840" cy="476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>
            <a:alphaModFix amt="20000"/>
          </a:blip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520" cy="84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6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7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011C78-24C2-4D4E-938E-944613AF79E4}" type="slidenum">
              <a: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9" name="Picture 9" descr="A screenshot of a video game&#10;&#10;Description automatically generated"/>
          <p:cNvPicPr/>
          <p:nvPr/>
        </p:nvPicPr>
        <p:blipFill>
          <a:blip r:embed="rId3"/>
          <a:srcRect l="36650" t="0" r="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50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51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52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53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cxnSp>
        <p:nvCxnSpPr>
          <p:cNvPr id="54" name="Straight Connector 23"/>
          <p:cNvCxnSpPr/>
          <p:nvPr/>
        </p:nvCxnSpPr>
        <p:spPr>
          <a:xfrm>
            <a:off x="1071360" y="120996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>
            <a:alphaModFix amt="20000"/>
          </a:blip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ftr" idx="8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9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E4BEC8-61A1-4777-9FCF-51FF8469783D}" type="slidenum">
              <a:rPr b="0" lang="hr-HR" sz="1200" spc="-1" strike="noStrike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7" name="Picture 9" descr="A screenshot of a video game&#10;&#10;Description automatically generated"/>
          <p:cNvPicPr/>
          <p:nvPr/>
        </p:nvPicPr>
        <p:blipFill>
          <a:blip r:embed="rId3"/>
          <a:srcRect l="36650" t="0" r="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58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59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60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61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1124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3" name="Rectangle 325"/>
          <p:cNvSpPr/>
          <p:nvPr/>
        </p:nvSpPr>
        <p:spPr>
          <a:xfrm>
            <a:off x="0" y="3573360"/>
            <a:ext cx="9143640" cy="12949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561"/>
              </a:spcBef>
            </a:pPr>
            <a:endParaRPr b="0" lang="hr-HR" sz="2800" spc="-1" strike="noStrike">
              <a:solidFill>
                <a:srgbClr val="ff9900"/>
              </a:solidFill>
              <a:latin typeface="Franklin Gothic Book"/>
            </a:endParaRPr>
          </a:p>
        </p:txBody>
      </p:sp>
      <p:pic>
        <p:nvPicPr>
          <p:cNvPr id="64" name="Picture 3" descr=""/>
          <p:cNvPicPr/>
          <p:nvPr/>
        </p:nvPicPr>
        <p:blipFill>
          <a:blip r:embed="rId2"/>
          <a:stretch/>
        </p:blipFill>
        <p:spPr>
          <a:xfrm>
            <a:off x="8194320" y="5597280"/>
            <a:ext cx="618840" cy="94248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71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0" y="836640"/>
            <a:ext cx="4495320" cy="554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4648320" y="836640"/>
            <a:ext cx="4495320" cy="554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10"/>
          </p:nvPr>
        </p:nvSpPr>
        <p:spPr>
          <a:xfrm>
            <a:off x="628560" y="6356520"/>
            <a:ext cx="20570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hr-HR" sz="1200" spc="-1" strike="noStrike">
                <a:solidFill>
                  <a:schemeClr val="dk1">
                    <a:tint val="75000"/>
                  </a:schemeClr>
                </a:solidFill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hr-HR" sz="1200" spc="-1" strike="noStrike">
                <a:solidFill>
                  <a:schemeClr val="dk1">
                    <a:tint val="75000"/>
                  </a:schemeClr>
                </a:solidFill>
                <a:latin typeface="Franklin Gothic Book"/>
              </a:rPr>
              <a:t>&lt;date/time&gt;</a:t>
            </a:r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11"/>
          </p:nvPr>
        </p:nvSpPr>
        <p:spPr>
          <a:xfrm>
            <a:off x="3029040" y="6356520"/>
            <a:ext cx="3085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12"/>
          </p:nvPr>
        </p:nvSpPr>
        <p:spPr>
          <a:xfrm>
            <a:off x="6458040" y="6356520"/>
            <a:ext cx="20570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200" spc="-1" strike="noStrike">
                <a:solidFill>
                  <a:schemeClr val="dk1">
                    <a:tint val="7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B36AC1-EF00-46F2-AA51-1FD4D4B74E89}" type="slidenum">
              <a:rPr b="0" lang="hr-HR" sz="1200" spc="-1" strike="noStrike">
                <a:solidFill>
                  <a:schemeClr val="dk1">
                    <a:tint val="75000"/>
                  </a:schemeClr>
                </a:solidFill>
                <a:latin typeface="Franklin Gothic Book"/>
              </a:rPr>
              <a:t>&lt;number&gt;</a:t>
            </a:fld>
            <a:endParaRPr b="0" lang="hr-H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77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78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79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80" name="Blank"/>
          <p:cNvSpPr/>
          <p:nvPr/>
        </p:nvSpPr>
        <p:spPr>
          <a:xfrm>
            <a:off x="13680" y="-4320"/>
            <a:ext cx="9143640" cy="9903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50760" rIns="50760" tIns="24840" bIns="24840" anchor="ctr">
            <a:normAutofit/>
          </a:bodyPr>
          <a:p>
            <a:pPr algn="ctr" defTabSz="514440">
              <a:lnSpc>
                <a:spcPct val="100000"/>
              </a:lnSpc>
              <a:tabLst>
                <a:tab algn="l" pos="0"/>
              </a:tabLst>
            </a:pPr>
            <a:endParaRPr b="1" lang="hr-HR" sz="1130" spc="-1" strike="noStrike">
              <a:solidFill>
                <a:schemeClr val="dk1"/>
              </a:solidFill>
              <a:latin typeface="Franklin Gothic Medium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62960" y="3751920"/>
            <a:ext cx="8244720" cy="147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anchorCtr="1">
            <a:norm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dt" idx="13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4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15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93BD18-F838-42F9-8E4C-3B82C259E45B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5" name="UNI_Logo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770880" y="262440"/>
            <a:ext cx="726840" cy="719640"/>
          </a:xfrm>
          <a:prstGeom prst="rect">
            <a:avLst/>
          </a:prstGeom>
          <a:ln w="0">
            <a:noFill/>
          </a:ln>
        </p:spPr>
      </p:pic>
      <p:pic>
        <p:nvPicPr>
          <p:cNvPr id="86" name="FER_logo" descr="A close up of a logo&#10;&#10;Description automatically generated"/>
          <p:cNvPicPr/>
          <p:nvPr/>
        </p:nvPicPr>
        <p:blipFill>
          <a:blip r:embed="rId7">
            <a:alphaModFix amt="79000"/>
          </a:blip>
          <a:srcRect l="13477" t="23723" r="15699" b="21457"/>
          <a:stretch/>
        </p:blipFill>
        <p:spPr>
          <a:xfrm>
            <a:off x="7629120" y="345240"/>
            <a:ext cx="1187640" cy="582120"/>
          </a:xfrm>
          <a:prstGeom prst="rect">
            <a:avLst/>
          </a:prstGeom>
          <a:ln w="0">
            <a:noFill/>
          </a:ln>
        </p:spPr>
      </p:pic>
      <p:sp>
        <p:nvSpPr>
          <p:cNvPr id="87" name="Course"/>
          <p:cNvSpPr/>
          <p:nvPr/>
        </p:nvSpPr>
        <p:spPr>
          <a:xfrm>
            <a:off x="6310080" y="2336760"/>
            <a:ext cx="239796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5000"/>
          </a:bodyPr>
          <a:p>
            <a:pPr defTabSz="457200">
              <a:lnSpc>
                <a:spcPct val="110000"/>
              </a:lnSpc>
            </a:pPr>
            <a:r>
              <a:rPr b="1" lang="hr-HR" sz="1800" spc="-1" strike="noStrike" cap="small">
                <a:solidFill>
                  <a:srgbClr val="363636"/>
                </a:solidFill>
                <a:latin typeface="Century Gothic"/>
              </a:rPr>
              <a:t>Programsko inženjerstvo</a:t>
            </a:r>
            <a:endParaRPr b="0" lang="hr-HR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0000"/>
              </a:lnSpc>
            </a:pPr>
            <a:r>
              <a:rPr b="1" lang="hr-HR" sz="1800" spc="-1" strike="noStrike" cap="small">
                <a:solidFill>
                  <a:srgbClr val="363636"/>
                </a:solidFill>
                <a:latin typeface="Century Gothic"/>
              </a:rPr>
              <a:t>ID 183400</a:t>
            </a:r>
            <a:endParaRPr b="0" lang="hr-H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Picture 15" descr=""/>
          <p:cNvPicPr/>
          <p:nvPr/>
        </p:nvPicPr>
        <p:blipFill>
          <a:blip r:embed="rId8"/>
          <a:stretch/>
        </p:blipFill>
        <p:spPr>
          <a:xfrm>
            <a:off x="187920" y="0"/>
            <a:ext cx="3204000" cy="2773800"/>
          </a:xfrm>
          <a:prstGeom prst="rect">
            <a:avLst/>
          </a:prstGeom>
          <a:ln w="0">
            <a:noFill/>
          </a:ln>
        </p:spPr>
      </p:pic>
      <p:sp>
        <p:nvSpPr>
          <p:cNvPr id="89" name="TextBox 3"/>
          <p:cNvSpPr/>
          <p:nvPr/>
        </p:nvSpPr>
        <p:spPr>
          <a:xfrm>
            <a:off x="2757240" y="3267000"/>
            <a:ext cx="3369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hr-HR" sz="20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Prezentacija</a:t>
            </a:r>
            <a:r>
              <a:rPr b="0" lang="hr-HR" sz="2000" spc="-1" strike="noStrike">
                <a:solidFill>
                  <a:schemeClr val="dk1"/>
                </a:solidFill>
                <a:latin typeface="Franklin Gothic Demi"/>
              </a:rPr>
              <a:t> </a:t>
            </a:r>
            <a:r>
              <a:rPr b="0" lang="hr-HR" sz="20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projekta</a:t>
            </a:r>
            <a:endParaRPr b="0" lang="hr-H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1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Third Outline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Outline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9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94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95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96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dt" idx="16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ftr" idx="17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sldNum" idx="18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D4AE8F-FEF6-4CE7-B24B-D3E76F5B7714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7" hidden="1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03" name="Rectangle 7" hidden="1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04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05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06" name="Rectangle 6"/>
          <p:cNvSpPr/>
          <p:nvPr/>
        </p:nvSpPr>
        <p:spPr>
          <a:xfrm>
            <a:off x="6043680" y="599760"/>
            <a:ext cx="2765160" cy="58165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hr-H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153120" y="863640"/>
            <a:ext cx="2342880" cy="480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rgbClr val="ffffff"/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81040" y="863640"/>
            <a:ext cx="5370840" cy="480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09" name="Rectangle 7"/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hr-H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8"/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hr-H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hr-H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dt" idx="19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 type="ftr" idx="20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 type="sldNum" idx="21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542C12-6BDE-4B84-AFE4-13EA8B9A55B0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1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17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18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7480" y="123840"/>
            <a:ext cx="8999280" cy="53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361800" y="1052640"/>
            <a:ext cx="4168440" cy="504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body"/>
          </p:nvPr>
        </p:nvSpPr>
        <p:spPr>
          <a:xfrm>
            <a:off x="4683240" y="1052640"/>
            <a:ext cx="4168440" cy="504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Click icon to add online image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27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28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79280" y="1643040"/>
            <a:ext cx="8964360" cy="5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179280" y="2349360"/>
            <a:ext cx="4316040" cy="39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48320" y="2349360"/>
            <a:ext cx="4316040" cy="190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48320" y="4405320"/>
            <a:ext cx="4316040" cy="190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dt" idx="22"/>
          </p:nvPr>
        </p:nvSpPr>
        <p:spPr>
          <a:xfrm>
            <a:off x="1214280" y="6453360"/>
            <a:ext cx="1773000" cy="31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ftr" idx="23"/>
          </p:nvPr>
        </p:nvSpPr>
        <p:spPr>
          <a:xfrm>
            <a:off x="3124080" y="6453360"/>
            <a:ext cx="2895120" cy="31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sldNum" idx="24"/>
          </p:nvPr>
        </p:nvSpPr>
        <p:spPr>
          <a:xfrm>
            <a:off x="6902280" y="6440400"/>
            <a:ext cx="2133360" cy="31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135E25-D0C4-4E2A-97DF-5F77C048C89C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41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42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43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19040" y="222120"/>
            <a:ext cx="8152920" cy="70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355680" y="1295280"/>
            <a:ext cx="8254800" cy="2383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355680" y="3832200"/>
            <a:ext cx="8254800" cy="2383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51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52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53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54" name="Rectangle 11"/>
          <p:cNvSpPr/>
          <p:nvPr/>
        </p:nvSpPr>
        <p:spPr>
          <a:xfrm>
            <a:off x="0" y="6659640"/>
            <a:ext cx="9143640" cy="198000"/>
          </a:xfrm>
          <a:prstGeom prst="rect">
            <a:avLst/>
          </a:prstGeom>
          <a:solidFill>
            <a:srgbClr val="9ec54a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sr-Latn-RS" sz="2400" spc="-1" strike="noStrike">
              <a:solidFill>
                <a:schemeClr val="dk1"/>
              </a:solidFill>
              <a:latin typeface="Arial"/>
              <a:ea typeface="ＭＳ Ｐゴシック"/>
            </a:endParaRPr>
          </a:p>
        </p:txBody>
      </p:sp>
      <p:sp>
        <p:nvSpPr>
          <p:cNvPr id="155" name="Rectangle 4"/>
          <p:cNvSpPr/>
          <p:nvPr/>
        </p:nvSpPr>
        <p:spPr>
          <a:xfrm>
            <a:off x="317520" y="5734080"/>
            <a:ext cx="850860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sr-Latn-R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6" name="Rectangle 6"/>
          <p:cNvSpPr/>
          <p:nvPr/>
        </p:nvSpPr>
        <p:spPr>
          <a:xfrm>
            <a:off x="0" y="0"/>
            <a:ext cx="9143640" cy="637920"/>
          </a:xfrm>
          <a:prstGeom prst="rect">
            <a:avLst/>
          </a:prstGeom>
          <a:solidFill>
            <a:srgbClr val="9ec54a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sr-Latn-RS" sz="2400" spc="-1" strike="noStrike">
              <a:solidFill>
                <a:schemeClr val="dk1"/>
              </a:solidFill>
              <a:latin typeface="Arial"/>
              <a:ea typeface="ＭＳ Ｐゴシック"/>
            </a:endParaRPr>
          </a:p>
        </p:txBody>
      </p:sp>
      <p:sp>
        <p:nvSpPr>
          <p:cNvPr id="157" name="Line 12"/>
          <p:cNvSpPr/>
          <p:nvPr/>
        </p:nvSpPr>
        <p:spPr>
          <a:xfrm>
            <a:off x="0" y="634680"/>
            <a:ext cx="9144000" cy="360"/>
          </a:xfrm>
          <a:prstGeom prst="line">
            <a:avLst/>
          </a:prstGeom>
          <a:ln w="12700">
            <a:solidFill>
              <a:srgbClr val="e6c0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hr-HR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58" name="Line 13"/>
          <p:cNvSpPr/>
          <p:nvPr/>
        </p:nvSpPr>
        <p:spPr>
          <a:xfrm>
            <a:off x="0" y="6661080"/>
            <a:ext cx="9144000" cy="360"/>
          </a:xfrm>
          <a:prstGeom prst="line">
            <a:avLst/>
          </a:prstGeom>
          <a:ln w="12700">
            <a:solidFill>
              <a:srgbClr val="e6c0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hr-HR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59" name="Text Box 14"/>
          <p:cNvSpPr/>
          <p:nvPr/>
        </p:nvSpPr>
        <p:spPr>
          <a:xfrm>
            <a:off x="8639280" y="6689880"/>
            <a:ext cx="50436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b="0" lang="sr-Latn-RS" sz="1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0" name="Text Box 15"/>
          <p:cNvSpPr/>
          <p:nvPr/>
        </p:nvSpPr>
        <p:spPr>
          <a:xfrm>
            <a:off x="8112240" y="6377040"/>
            <a:ext cx="84420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b="0" lang="sr-Latn-RS" sz="1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8682120" y="6626160"/>
            <a:ext cx="606240" cy="2422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fld id="{3CD4B684-3E00-41D0-B2F7-CBCEC2A4BC4A}" type="slidenum">
              <a:rPr b="0" lang="de-DE" sz="1000" spc="-1" strike="noStrike">
                <a:solidFill>
                  <a:schemeClr val="lt1"/>
                </a:solidFill>
                <a:latin typeface="Arial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Picture 9" descr="MCAST"/>
          <p:cNvPicPr/>
          <p:nvPr/>
        </p:nvPicPr>
        <p:blipFill>
          <a:blip r:embed="rId4"/>
          <a:stretch/>
        </p:blipFill>
        <p:spPr>
          <a:xfrm>
            <a:off x="7453440" y="185760"/>
            <a:ext cx="1483920" cy="296640"/>
          </a:xfrm>
          <a:prstGeom prst="rect">
            <a:avLst/>
          </a:prstGeom>
          <a:ln w="0">
            <a:noFill/>
          </a:ln>
        </p:spPr>
      </p:pic>
      <p:sp>
        <p:nvSpPr>
          <p:cNvPr id="163" name="Textfeld 12"/>
          <p:cNvSpPr/>
          <p:nvPr/>
        </p:nvSpPr>
        <p:spPr>
          <a:xfrm>
            <a:off x="0" y="6657840"/>
            <a:ext cx="9143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15000"/>
              </a:lnSpc>
              <a:spcAft>
                <a:spcPts val="1001"/>
              </a:spcAft>
            </a:pPr>
            <a:r>
              <a:rPr b="0" lang="en-US" sz="700" spc="-1" strike="noStrike">
                <a:solidFill>
                  <a:schemeClr val="dk1"/>
                </a:solidFill>
                <a:latin typeface="Arial"/>
                <a:ea typeface="Times New Roman"/>
              </a:rPr>
              <a:t>A Vocational Degree programme developed by MCAST and Fraunhofer IAO.</a:t>
            </a:r>
            <a:endParaRPr b="0" lang="hr-HR" sz="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" name="Grafik 13" descr="C:\Dokumente und Einstellungen\sahin\Desktop\iao_85mm_p334.png"/>
          <p:cNvPicPr/>
          <p:nvPr/>
        </p:nvPicPr>
        <p:blipFill>
          <a:blip r:embed="rId5"/>
          <a:stretch/>
        </p:blipFill>
        <p:spPr>
          <a:xfrm>
            <a:off x="5940360" y="155520"/>
            <a:ext cx="1383840" cy="37584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1"/>
          <p:cNvSpPr>
            <a:spLocks noGrp="1"/>
          </p:cNvSpPr>
          <p:nvPr>
            <p:ph type="body"/>
          </p:nvPr>
        </p:nvSpPr>
        <p:spPr>
          <a:xfrm>
            <a:off x="372240" y="1917720"/>
            <a:ext cx="8443080" cy="447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title"/>
          </p:nvPr>
        </p:nvSpPr>
        <p:spPr>
          <a:xfrm>
            <a:off x="375120" y="860040"/>
            <a:ext cx="842220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2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</a:rPr>
              <a:t>Click to edit Master title style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68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69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70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150920" y="533520"/>
            <a:ext cx="7792560" cy="76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0" y="1676520"/>
            <a:ext cx="9143640" cy="4455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Franklin Gothic Book"/>
              </a:rPr>
              <a:t>Click icon to add table</a:t>
            </a:r>
            <a:endParaRPr b="0" lang="en-US" sz="1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dt" idx="25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ftr" idx="26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 type="sldNum" idx="27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D4F988-B702-44E4-AA60-9CFD55832448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79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80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81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86160" y="3685680"/>
            <a:ext cx="7772040" cy="2387160"/>
          </a:xfrm>
          <a:prstGeom prst="rect">
            <a:avLst/>
          </a:prstGeom>
          <a:noFill/>
          <a:ln w="0">
            <a:noFill/>
          </a:ln>
        </p:spPr>
        <p:txBody>
          <a:bodyPr lIns="252000" rIns="252000" tIns="4680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60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84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85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86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dt" idx="28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ftr" idx="29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PlaceHolder 5"/>
          <p:cNvSpPr>
            <a:spLocks noGrp="1"/>
          </p:cNvSpPr>
          <p:nvPr>
            <p:ph type="sldNum" idx="30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3949C3-A058-447E-A8D0-457EBB5BCF01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195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96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97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35960" y="2394000"/>
            <a:ext cx="8271720" cy="21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435960" y="4541400"/>
            <a:ext cx="8271720" cy="60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0" lang="en-US" sz="1400" spc="-1" strike="noStrike" cap="all">
                <a:solidFill>
                  <a:schemeClr val="accent1"/>
                </a:solidFill>
                <a:latin typeface="Franklin Gothic Book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dt" idx="31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 type="ftr" idx="32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 type="sldNum" idx="33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78337F-084B-4556-B5BE-BB8FA262A4D8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204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05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06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19640" cy="82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72000" y="972000"/>
            <a:ext cx="467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body"/>
          </p:nvPr>
        </p:nvSpPr>
        <p:spPr>
          <a:xfrm>
            <a:off x="4812120" y="972000"/>
            <a:ext cx="425952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 type="dt" idx="34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 type="ftr" idx="35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PlaceHolder 6"/>
          <p:cNvSpPr>
            <a:spLocks noGrp="1"/>
          </p:cNvSpPr>
          <p:nvPr>
            <p:ph type="sldNum" idx="36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5D2EA0-8014-4752-974E-0870B8106D77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217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18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19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792000" y="-9000"/>
            <a:ext cx="7919640" cy="86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72000" y="991440"/>
            <a:ext cx="467964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72000" y="1668240"/>
            <a:ext cx="4679640" cy="466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4812120" y="991440"/>
            <a:ext cx="4212000" cy="5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4812120" y="1663920"/>
            <a:ext cx="4212000" cy="466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1"/>
                </a:solidFill>
                <a:latin typeface="Franklin Gothic Book"/>
              </a:rPr>
              <a:t>Third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Fourth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1"/>
                </a:solidFill>
                <a:latin typeface="Franklin Gothic Book"/>
              </a:rPr>
              <a:t>Fifth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5" name="PlaceHolder 6"/>
          <p:cNvSpPr>
            <a:spLocks noGrp="1"/>
          </p:cNvSpPr>
          <p:nvPr>
            <p:ph type="dt" idx="37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PlaceHolder 7"/>
          <p:cNvSpPr>
            <a:spLocks noGrp="1"/>
          </p:cNvSpPr>
          <p:nvPr>
            <p:ph type="ftr" idx="38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PlaceHolder 8"/>
          <p:cNvSpPr>
            <a:spLocks noGrp="1"/>
          </p:cNvSpPr>
          <p:nvPr>
            <p:ph type="sldNum" idx="39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06441F-A96D-4A1A-8CA2-09E14B48B8E2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229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30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31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dt" idx="40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ftr" idx="41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 type="sldNum" idx="42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87B246-3FD3-4DE8-B6CB-E4E9BEEEA6C9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238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39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40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41" name="PlaceHolder 1"/>
          <p:cNvSpPr>
            <a:spLocks noGrp="1"/>
          </p:cNvSpPr>
          <p:nvPr>
            <p:ph type="dt" idx="43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ftr" idx="44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5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C7D8C5-B179-470E-9508-A3C65E420368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Blank"/>
          <p:cNvSpPr/>
          <p:nvPr/>
        </p:nvSpPr>
        <p:spPr>
          <a:xfrm>
            <a:off x="0" y="0"/>
            <a:ext cx="9143640" cy="9903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50760" rIns="50760" tIns="24840" bIns="24840" anchor="ctr">
            <a:normAutofit/>
          </a:bodyPr>
          <a:p>
            <a:pPr algn="ctr" defTabSz="514440">
              <a:lnSpc>
                <a:spcPct val="100000"/>
              </a:lnSpc>
              <a:tabLst>
                <a:tab algn="l" pos="0"/>
              </a:tabLst>
            </a:pPr>
            <a:endParaRPr b="1" lang="hr-HR" sz="1130" spc="-1" strike="noStrike">
              <a:solidFill>
                <a:schemeClr val="dk1"/>
              </a:solidFill>
              <a:latin typeface="Franklin Gothic Medium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4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24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47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48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576000" y="1008720"/>
            <a:ext cx="2273400" cy="17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257040">
              <a:lnSpc>
                <a:spcPct val="100000"/>
              </a:lnSpc>
              <a:buNone/>
            </a:pPr>
            <a:r>
              <a:rPr b="0" lang="en-US" sz="1350" spc="-1" strike="noStrike" cap="all">
                <a:solidFill>
                  <a:srgbClr val="ffffff"/>
                </a:solidFill>
                <a:latin typeface="Franklin Gothic Demi"/>
              </a:rPr>
              <a:t>Click to edit Master title style</a:t>
            </a:r>
            <a:endParaRPr b="0" lang="en-US" sz="135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3675600" y="1008720"/>
            <a:ext cx="4987800" cy="52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2"/>
                </a:solidFill>
                <a:latin typeface="Franklin Gothic Book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396000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600" spc="-1" strike="noStrike">
                <a:solidFill>
                  <a:schemeClr val="dk2"/>
                </a:solidFill>
                <a:latin typeface="Franklin Gothic Book"/>
              </a:rPr>
              <a:t>Second level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  <a:p>
            <a:pPr lvl="2" marL="506160" indent="-15192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400" spc="-1" strike="noStrike">
                <a:solidFill>
                  <a:schemeClr val="dk2"/>
                </a:solidFill>
                <a:latin typeface="Franklin Gothic Book"/>
              </a:rPr>
              <a:t>Third level</a:t>
            </a:r>
            <a:endParaRPr b="0" lang="en-US" sz="1400" spc="-1" strike="noStrike">
              <a:solidFill>
                <a:schemeClr val="dk1"/>
              </a:solidFill>
              <a:latin typeface="Franklin Gothic Book"/>
            </a:endParaRPr>
          </a:p>
          <a:p>
            <a:pPr lvl="3" marL="698760" indent="-131760" defTabSz="257040">
              <a:lnSpc>
                <a:spcPct val="100000"/>
              </a:lnSpc>
              <a:spcBef>
                <a:spcPts val="22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100" spc="-1" strike="noStrike">
                <a:solidFill>
                  <a:schemeClr val="dk2"/>
                </a:solidFill>
                <a:latin typeface="Franklin Gothic Book"/>
              </a:rPr>
              <a:t>Fourth level</a:t>
            </a:r>
            <a:endParaRPr b="0" lang="en-US" sz="1100" spc="-1" strike="noStrike">
              <a:solidFill>
                <a:schemeClr val="dk1"/>
              </a:solidFill>
              <a:latin typeface="Franklin Gothic Book"/>
            </a:endParaRPr>
          </a:p>
          <a:p>
            <a:pPr lvl="4" marL="901080" indent="-131760" defTabSz="257040">
              <a:lnSpc>
                <a:spcPct val="100000"/>
              </a:lnSpc>
              <a:spcBef>
                <a:spcPts val="22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1100" spc="-1" strike="noStrike">
                <a:solidFill>
                  <a:schemeClr val="dk2"/>
                </a:solidFill>
                <a:latin typeface="Franklin Gothic Book"/>
              </a:rPr>
              <a:t>Fifth level</a:t>
            </a:r>
            <a:endParaRPr b="0" lang="en-US" sz="11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576000" y="2836800"/>
            <a:ext cx="2273400" cy="346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Franklin Gothic Book"/>
              </a:rPr>
              <a:t>Click to edit Master text styles</a:t>
            </a:r>
            <a:endParaRPr b="0" lang="en-US" sz="9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dt" idx="46"/>
          </p:nvPr>
        </p:nvSpPr>
        <p:spPr>
          <a:xfrm>
            <a:off x="5704560" y="645696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PlaceHolder 5"/>
          <p:cNvSpPr>
            <a:spLocks noGrp="1"/>
          </p:cNvSpPr>
          <p:nvPr>
            <p:ph type="ftr" idx="47"/>
          </p:nvPr>
        </p:nvSpPr>
        <p:spPr>
          <a:xfrm>
            <a:off x="787320" y="6452640"/>
            <a:ext cx="4836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PlaceHolder 6"/>
          <p:cNvSpPr>
            <a:spLocks noGrp="1"/>
          </p:cNvSpPr>
          <p:nvPr>
            <p:ph type="sldNum" idx="48"/>
          </p:nvPr>
        </p:nvSpPr>
        <p:spPr>
          <a:xfrm>
            <a:off x="7918560" y="645696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CF5B0E-09AB-4CDC-A2EA-D5F3F3B6F63F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4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20" bIns="72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sp>
        <p:nvSpPr>
          <p:cNvPr id="25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9000" bIns="-9000" anchor="ctr">
            <a:noAutofit/>
          </a:bodyPr>
          <a:p>
            <a:pPr defTabSz="457200">
              <a:lnSpc>
                <a:spcPct val="100000"/>
              </a:lnSpc>
            </a:pPr>
            <a:endParaRPr b="0" lang="hr-HR" sz="1350" spc="-1" strike="noStrike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57" name="Picture 22" descr=""/>
          <p:cNvPicPr/>
          <p:nvPr/>
        </p:nvPicPr>
        <p:blipFill>
          <a:blip r:embed="rId2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58" name="FER_logo" descr="A close up of a logo&#10;&#10;Description automatically generated"/>
          <p:cNvPicPr/>
          <p:nvPr/>
        </p:nvPicPr>
        <p:blipFill>
          <a:blip r:embed="rId3">
            <a:alphaModFix amt="7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435960" y="4693320"/>
            <a:ext cx="827172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257040">
              <a:lnSpc>
                <a:spcPct val="100000"/>
              </a:lnSpc>
              <a:buNone/>
            </a:pPr>
            <a:r>
              <a:rPr b="0" lang="en-US" sz="135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b="0" lang="en-US" sz="135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338040" y="1042200"/>
            <a:ext cx="8467920" cy="3485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/>
                </a:solidFill>
                <a:latin typeface="Franklin Gothic Book"/>
              </a:rPr>
              <a:t>Click icon to add picture</a:t>
            </a:r>
            <a:endParaRPr b="0" lang="en-US" sz="9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435960" y="5259960"/>
            <a:ext cx="8271720" cy="99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/>
                </a:solidFill>
                <a:latin typeface="Franklin Gothic Book"/>
              </a:rPr>
              <a:t>Click to edit Master text styles</a:t>
            </a:r>
            <a:endParaRPr b="0" lang="en-US" sz="9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dt" idx="49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PlaceHolder 5"/>
          <p:cNvSpPr>
            <a:spLocks noGrp="1"/>
          </p:cNvSpPr>
          <p:nvPr>
            <p:ph type="ftr" idx="50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hr-H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hr-H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PlaceHolder 6"/>
          <p:cNvSpPr>
            <a:spLocks noGrp="1"/>
          </p:cNvSpPr>
          <p:nvPr>
            <p:ph type="sldNum" idx="51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9B79F9-5D42-4FF4-BB2B-965FE1E7D45D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&lt;number&gt;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slideLayout" Target="../slideLayouts/slideLayout1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jpeg"/><Relationship Id="rId2" Type="http://schemas.openxmlformats.org/officeDocument/2006/relationships/image" Target="../media/image22.jpeg"/><Relationship Id="rId3" Type="http://schemas.openxmlformats.org/officeDocument/2006/relationships/slideLayout" Target="../slideLayouts/slideLayout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image" Target="../media/image24.jpeg"/><Relationship Id="rId3" Type="http://schemas.openxmlformats.org/officeDocument/2006/relationships/slideLayout" Target="../slideLayouts/slideLayout1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image" Target="../media/image26.jpeg"/><Relationship Id="rId3" Type="http://schemas.openxmlformats.org/officeDocument/2006/relationships/slideLayout" Target="../slideLayouts/slideLayout1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image" Target="../media/image28.jpeg"/><Relationship Id="rId3" Type="http://schemas.openxmlformats.org/officeDocument/2006/relationships/slideLayout" Target="../slideLayouts/slideLayout1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9.jpeg"/><Relationship Id="rId2" Type="http://schemas.openxmlformats.org/officeDocument/2006/relationships/image" Target="../media/image30.jpeg"/><Relationship Id="rId3" Type="http://schemas.openxmlformats.org/officeDocument/2006/relationships/slideLayout" Target="../slideLayouts/slideLayout1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slideLayout" Target="../slideLayouts/slideLayout1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462960" y="3751920"/>
            <a:ext cx="8244720" cy="147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257040">
              <a:lnSpc>
                <a:spcPct val="150000"/>
              </a:lnSpc>
              <a:buNone/>
            </a:pPr>
            <a:r>
              <a:rPr b="0" lang="hr-HR" sz="40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&lt;Računko&gt;</a:t>
            </a:r>
            <a:endParaRPr b="0" lang="en-US" sz="4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subTitle"/>
          </p:nvPr>
        </p:nvSpPr>
        <p:spPr>
          <a:xfrm>
            <a:off x="699480" y="5227200"/>
            <a:ext cx="7772040" cy="5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72"/>
          </a:bodyPr>
          <a:p>
            <a:pPr indent="0" algn="ctr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0" lang="hr-HR" sz="1400" spc="-1" strike="noStrike">
                <a:solidFill>
                  <a:schemeClr val="dk1"/>
                </a:solidFill>
                <a:latin typeface="Franklin Gothic Book"/>
              </a:rPr>
              <a:t>Tim:  TG 11.4 &lt;TimFiLAn&gt;</a:t>
            </a:r>
            <a:endParaRPr b="0" lang="hr-HR" sz="1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0" lang="hr-HR" sz="1200" spc="-1" strike="noStrike">
                <a:solidFill>
                  <a:schemeClr val="dk1"/>
                </a:solidFill>
                <a:latin typeface="Franklin Gothic Book"/>
              </a:rPr>
              <a:t>Ak. god. 2025./2026.</a:t>
            </a:r>
            <a:endParaRPr b="0" lang="hr-H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Sadržaj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Opis zadatka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Pregled zahtjeva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Korišteni alati i tehnologije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Arhitektura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Organizacija rada 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Iskustva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D28AADD2-F6A3-4D59-80C7-B8CD1D413AC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Sadržaj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Članovi tima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Cilj projekta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Analiza i oblikovanje sustava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	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Zahtjevi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Arhitektura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Organizacija rada 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Iskustva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6C40589-7978-4BFE-AF1E-034E72B77D41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Članovi grupe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Luka Kovačević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Organizacija sastanaka, Backend/Frontend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Timon Menalo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Frontend 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Luka Majcen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Frontend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Luka Uršić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Backend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Ante Galić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000" spc="-1" strike="noStrike">
                <a:solidFill>
                  <a:schemeClr val="dk1"/>
                </a:solidFill>
                <a:latin typeface="Franklin Gothic Book"/>
              </a:rPr>
              <a:t>Backend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Filip Šturlić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Dokumentacija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9D65BAE-585A-4868-8D68-A85BDE65AD7E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O projektu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465"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Što aplikacija radi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Automatski prepoznaje i kategorizira račune pomoću AI-ja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Omogućuje praćenje mjesečnih troškova po kategorijama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Pruža pregled troškova tablično i grafički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Omogućuje dodavanje sporednih korisnika i zajedničko praćenje kućanstva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Nudi personalizirane savjete kroz integrirani ChatBot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Cilj aplikacije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Pojednostaviti upravljanje osobnim financijama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Povećati financijsku pismenost korisnika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Omogućiti uvid i kontrolu nad kućnim budžetom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Automatizirati unos podataka i eliminirati ručni rad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55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774832-80C4-47BF-A565-4C33A5497B72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5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O projektu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713" lnSpcReduction="10000"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1" lang="hr-HR" sz="2800" spc="-1" strike="noStrike">
                <a:solidFill>
                  <a:schemeClr val="dk1"/>
                </a:solidFill>
                <a:latin typeface="Franklin Gothic Book"/>
              </a:rPr>
              <a:t>Slična rješenja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Spendee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– vizualna analitika, budžeti, zajednički walleti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Expensify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– automatsko skeniranje i kategorizacija računa, izvještaji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Home Budget with Sync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– obiteljski budžeti, sinkronizacija u realnom vremenu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1" lang="hr-HR" sz="2800" spc="-1" strike="noStrike">
                <a:solidFill>
                  <a:schemeClr val="dk1"/>
                </a:solidFill>
                <a:latin typeface="Franklin Gothic Book"/>
              </a:rPr>
              <a:t>Naša prednost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Integracija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AI-a za automatsku kategorizaciju računa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ChatBot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za personalizirane financijske </a:t>
            </a: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savjete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Jedinstveno praćenje </a:t>
            </a: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troškova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glavnog i sporednih korisnika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Intuitivno mobilno sučelje optimizirano za </a:t>
            </a: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Android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i </a:t>
            </a: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iOS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Centralizirana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</a:t>
            </a:r>
            <a:r>
              <a:rPr b="1" lang="hr-HR" sz="2400" spc="-1" strike="noStrike">
                <a:solidFill>
                  <a:schemeClr val="dk1"/>
                </a:solidFill>
                <a:latin typeface="Franklin Gothic Book"/>
              </a:rPr>
              <a:t>kontrola</a:t>
            </a: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 i analiza kućnog budžeta u jednoj aplikaciji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56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851D29-730F-4E90-853E-631A8D4E5D47}" type="slidenum">
              <a:rPr b="0" lang="hr-HR" sz="1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6</a:t>
            </a:fld>
            <a:endParaRPr b="0" lang="hr-H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Pregled zahtjeva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1" lang="hr-HR" sz="2600" spc="-1" strike="noStrike">
                <a:solidFill>
                  <a:schemeClr val="dk1"/>
                </a:solidFill>
                <a:latin typeface="Franklin Gothic Book"/>
              </a:rPr>
              <a:t>Glavni funkcionalni zahtjevi</a:t>
            </a:r>
            <a:r>
              <a:rPr b="0" lang="hr-HR" sz="2600" spc="-1" strike="noStrike">
                <a:solidFill>
                  <a:schemeClr val="dk1"/>
                </a:solidFill>
                <a:latin typeface="Franklin Gothic Book"/>
              </a:rPr>
              <a:t> </a:t>
            </a:r>
            <a:endParaRPr b="0" lang="en-US" sz="26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Registracija i prijava korisnika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Postavljanje mjesečnog budžeta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Unos računa i automatska kategorizacija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</a:t>
            </a: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Kreiranje i upravljanje grupama (obitelji)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ChatBot savjetnik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Administracija i izvještaji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D00E918C-7B69-4124-8DDC-77232FD864C9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Pregled zahtjeva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r>
              <a:rPr b="1" lang="hr-HR" sz="2600" spc="-1" strike="noStrike">
                <a:solidFill>
                  <a:schemeClr val="dk1"/>
                </a:solidFill>
                <a:latin typeface="Franklin Gothic Book"/>
              </a:rPr>
              <a:t>Glavni nefunkcionalni zahtjevi</a:t>
            </a:r>
            <a:endParaRPr b="0" lang="en-US" sz="26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Sigurna autentifikacija i autorizacija – 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Oauth 2.0 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Sigurnost podataka 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– Usklađenost sa GDPR-om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HTTPS komunikacija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Točnost prepoznavanja sadržaja računa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algn="l" pos="0"/>
              </a:tabLst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Održavanje i skalabilnost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D1ADD3D-695E-4057-8B07-3393909C3171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290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291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292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3085920"/>
            <a:ext cx="8473680" cy="33379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293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grpSp>
        <p:nvGrpSpPr>
          <p:cNvPr id="294" name="Group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28680" y="457200"/>
            <a:ext cx="2777040" cy="5934600"/>
            <a:chOff x="328680" y="457200"/>
            <a:chExt cx="2777040" cy="5934600"/>
          </a:xfrm>
        </p:grpSpPr>
        <p:sp>
          <p:nvSpPr>
            <p:cNvPr id="295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601200"/>
              <a:ext cx="2776320" cy="5790600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hr-HR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296" name="Rectangl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457200"/>
              <a:ext cx="2777040" cy="94680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hr-HR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438120" y="1523880"/>
            <a:ext cx="2558520" cy="347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3600" spc="-1" strike="noStrike" cap="all">
                <a:solidFill>
                  <a:srgbClr val="ffffff"/>
                </a:solidFill>
                <a:latin typeface="Franklin Gothic Demi"/>
              </a:rPr>
              <a:t>UML dijagram obrazaca uporabe</a:t>
            </a:r>
            <a:endParaRPr b="0" lang="en-US" sz="36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438120" y="5145480"/>
            <a:ext cx="2558520" cy="73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1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 cap="all">
                <a:solidFill>
                  <a:srgbClr val="ffffff">
                    <a:alpha val="75000"/>
                  </a:srgbClr>
                </a:solidFill>
                <a:latin typeface="Franklin Gothic Book"/>
              </a:rPr>
              <a:t> </a:t>
            </a:r>
            <a:endParaRPr b="0" lang="en-US" sz="16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7"/>
          </p:nvPr>
        </p:nvSpPr>
        <p:spPr>
          <a:xfrm>
            <a:off x="2590920" y="766080"/>
            <a:ext cx="4068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rgbClr val="ffffff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611E61FF-173B-4CC1-BA28-B39AE3F11106}" type="slidenum">
              <a:rPr b="0" lang="en-US" sz="900" spc="-1" strike="noStrike">
                <a:solidFill>
                  <a:srgbClr val="ffffff"/>
                </a:solidFill>
                <a:latin typeface="Franklin Gothic Book"/>
              </a:rPr>
              <a:t>9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00" name="Slika 5" descr="Slika na kojoj se prikazuje tekst, dijagram, snimka zaslona, crta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3111480" y="597600"/>
            <a:ext cx="6013440" cy="553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2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3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4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3085920"/>
            <a:ext cx="8473680" cy="33379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305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6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54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7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31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8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pic>
        <p:nvPicPr>
          <p:cNvPr id="309" name="Rezervirano mjesto sadržaja 5" descr="Slika na kojoj se prikazuje tekst, dijagram, snimka zaslona, crta&#10;&#10;Sadržaj generiran uz AI možda nije točan."/>
          <p:cNvPicPr/>
          <p:nvPr/>
        </p:nvPicPr>
        <p:blipFill>
          <a:blip r:embed="rId1"/>
          <a:srcRect l="0" t="0" r="2" b="9184"/>
          <a:stretch/>
        </p:blipFill>
        <p:spPr>
          <a:xfrm>
            <a:off x="138240" y="322560"/>
            <a:ext cx="9011880" cy="4112640"/>
          </a:xfrm>
          <a:prstGeom prst="rect">
            <a:avLst/>
          </a:prstGeom>
          <a:ln w="0">
            <a:noFill/>
          </a:ln>
        </p:spPr>
      </p:pic>
      <p:sp>
        <p:nvSpPr>
          <p:cNvPr id="310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199400"/>
            <a:ext cx="8472240" cy="219060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70520" y="4319640"/>
            <a:ext cx="821052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hr-HR" sz="3600" spc="-1" strike="noStrike" cap="all">
                <a:solidFill>
                  <a:srgbClr val="ffffff"/>
                </a:solidFill>
                <a:latin typeface="Franklin Gothic Demi"/>
              </a:rPr>
              <a:t>Dijagram razreda</a:t>
            </a:r>
            <a:endParaRPr b="0" lang="en-US" sz="36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ldNum" idx="58"/>
          </p:nvPr>
        </p:nvSpPr>
        <p:spPr>
          <a:xfrm>
            <a:off x="7918560" y="642384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9E67EC0C-65B3-4A87-BBCA-A16A644BD6EF}" type="slidenum">
              <a:rPr b="0" lang="en-US" sz="9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10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TekstniOkvir 6"/>
          <p:cNvSpPr/>
          <p:nvPr/>
        </p:nvSpPr>
        <p:spPr>
          <a:xfrm>
            <a:off x="2835720" y="86796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dk1"/>
              </a:solidFill>
              <a:latin typeface="Franklin Gothic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Dijagram komponenata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pic>
        <p:nvPicPr>
          <p:cNvPr id="315" name="Rezervirano mjesto sadržaja 9" descr="Slika na kojoj se prikazuje tekst, snimka zaslona, dijagram, paralelno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691200" y="873000"/>
            <a:ext cx="7761240" cy="56188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54A46E9-34F8-4492-BCFB-3FBE2F1FD1E7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en-GB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Dijagram razmještaja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pic>
        <p:nvPicPr>
          <p:cNvPr id="317" name="Rezervirano mjesto sadržaja 5" descr="Slika na kojoj se prikazuje tekst, snimka zaslona, dijagram, Trokut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71280" y="1014480"/>
            <a:ext cx="9000720" cy="53143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1C15DBC1-D2AD-463C-96D7-ECA4ABBE0303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Ispitivanje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600" spc="-1" strike="noStrike">
                <a:solidFill>
                  <a:schemeClr val="dk1"/>
                </a:solidFill>
                <a:latin typeface="Franklin Gothic Book"/>
              </a:rPr>
              <a:t>Unit testovi backend-a</a:t>
            </a:r>
            <a:endParaRPr b="0" lang="en-US" sz="26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en-US" sz="2200" spc="-1" strike="noStrike">
                <a:solidFill>
                  <a:schemeClr val="dk1"/>
                </a:solidFill>
                <a:latin typeface="Franklin Gothic Book"/>
              </a:rPr>
              <a:t>Provjera modela: User, Group, Profile, Category, Store, Transaction, Expense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pt-BR" sz="2200" spc="-1" strike="noStrike">
                <a:solidFill>
                  <a:schemeClr val="dk1"/>
                </a:solidFill>
                <a:latin typeface="Franklin Gothic Book"/>
              </a:rPr>
              <a:t>Testiranje atributa, relacija i automatskog postavljanja datuma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Ponašanje pri brisanju povezanih objekata (SET_NULL, PROTECTED)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600" spc="-1" strike="noStrike">
                <a:solidFill>
                  <a:schemeClr val="dk1"/>
                </a:solidFill>
                <a:latin typeface="Franklin Gothic Book"/>
              </a:rPr>
              <a:t>E2E testovi frontend-a (Maestro)</a:t>
            </a:r>
            <a:endParaRPr b="0" lang="en-US" sz="26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Registracija i prijava korisnika (uspješno i neuspješno)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Logout i navigacija kroz tabove (Home, Group, Chatbot, Profile)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Provjera prikaza i funkcionalnosti glavnih komponenti aplikacije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D9A56DD-23D5-4999-9845-D0100D215CFE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792000" y="144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Korišteni alati i tehnologije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600" spc="-1" strike="noStrike">
                <a:solidFill>
                  <a:schemeClr val="dk1"/>
                </a:solidFill>
                <a:latin typeface="Franklin Gothic Book"/>
              </a:rPr>
              <a:t>Popis programskih jezika i radnih okvira</a:t>
            </a:r>
            <a:endParaRPr b="0" lang="en-US" sz="26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Backend: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Python , Django 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en-US" sz="2200" spc="-1" strike="noStrike">
                <a:solidFill>
                  <a:schemeClr val="dk1"/>
                </a:solidFill>
                <a:latin typeface="Franklin Gothic Book"/>
              </a:rPr>
              <a:t>Frontend:</a:t>
            </a:r>
            <a:r>
              <a:rPr b="0" lang="en-US" sz="2200" spc="-1" strike="noStrike">
                <a:solidFill>
                  <a:schemeClr val="dk1"/>
                </a:solidFill>
                <a:latin typeface="Franklin Gothic Book"/>
              </a:rPr>
              <a:t> React Native, Expo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pl-PL" sz="2200" spc="-1" strike="noStrike">
                <a:solidFill>
                  <a:schemeClr val="dk1"/>
                </a:solidFill>
                <a:latin typeface="Franklin Gothic Book"/>
              </a:rPr>
              <a:t>Baza podataka:</a:t>
            </a:r>
            <a:r>
              <a:rPr b="0" lang="pl-PL" sz="2200" spc="-1" strike="noStrike">
                <a:solidFill>
                  <a:schemeClr val="dk1"/>
                </a:solidFill>
                <a:latin typeface="Franklin Gothic Book"/>
              </a:rPr>
              <a:t> PostgreSQL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Stiliziranje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:</a:t>
            </a:r>
            <a:r>
              <a:rPr b="0" lang="en-US" sz="2200" spc="-1" strike="noStrike">
                <a:solidFill>
                  <a:schemeClr val="dk1"/>
                </a:solidFill>
                <a:latin typeface="Franklin Gothic Book"/>
              </a:rPr>
              <a:t> CSS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Razvoj i modeliranje: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Visual Studio Code, Astah, Visual Paradigm, ERDPlus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Kontrola verzija: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Git, GitHub, GitHub Wiki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it-IT" sz="2200" spc="-1" strike="noStrike">
                <a:solidFill>
                  <a:schemeClr val="dk1"/>
                </a:solidFill>
                <a:latin typeface="Franklin Gothic Book"/>
              </a:rPr>
              <a:t>Testiranje:</a:t>
            </a:r>
            <a:r>
              <a:rPr b="0" lang="it-IT" sz="2200" spc="-1" strike="noStrike">
                <a:solidFill>
                  <a:schemeClr val="dk1"/>
                </a:solidFill>
                <a:latin typeface="Franklin Gothic Book"/>
              </a:rPr>
              <a:t> Unit testovi backend-a, E2E testovi frontend-a (Maestro)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8002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1" lang="hr-HR" sz="2200" spc="-1" strike="noStrike">
                <a:solidFill>
                  <a:schemeClr val="dk1"/>
                </a:solidFill>
                <a:latin typeface="Franklin Gothic Book"/>
              </a:rPr>
              <a:t>Vanjski servisi:</a:t>
            </a:r>
            <a:r>
              <a:rPr b="0" lang="hr-HR" sz="2200" spc="-1" strike="noStrike">
                <a:solidFill>
                  <a:schemeClr val="dk1"/>
                </a:solidFill>
                <a:latin typeface="Franklin Gothic Book"/>
              </a:rPr>
              <a:t> OpenAI API za ChatBot, Google OAuth2 za autentifikaciju</a:t>
            </a:r>
            <a:endParaRPr b="0" lang="en-US" sz="22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600" spc="-1" strike="noStrike">
                <a:solidFill>
                  <a:schemeClr val="dk1"/>
                </a:solidFill>
                <a:latin typeface="Franklin Gothic Book"/>
              </a:rPr>
              <a:t>Aplikacija Deployana na Heroku</a:t>
            </a:r>
            <a:endParaRPr b="0" lang="en-US" sz="2600" spc="-1" strike="noStrike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163AC31-1CC5-4533-A007-9D7317230863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Organizacija rada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Neprogramski (organizacijski) zadaci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Organizacija komunikacije: Microsoft Teams, WhatsApp, Discord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  <a:p>
            <a:pPr lvl="1" marL="487080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Primijenjen model je agilni SDLC: dva iterativna ciklusa razvoja, </a:t>
            </a: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prilagodba rada nakon povratnih informacija iz prve faze, naglasak na </a:t>
            </a:r>
            <a:r>
              <a:rPr b="0" lang="hr-HR" sz="2000" spc="-1" strike="noStrike">
                <a:solidFill>
                  <a:schemeClr val="dk1"/>
                </a:solidFill>
                <a:latin typeface="Franklin Gothic Book"/>
              </a:rPr>
              <a:t>komunikaciji</a:t>
            </a:r>
            <a:endParaRPr b="0" lang="en-US" sz="2000" spc="-1" strike="noStrike">
              <a:solidFill>
                <a:schemeClr val="dk1"/>
              </a:solidFill>
              <a:latin typeface="Franklin Gothic Book"/>
            </a:endParaRPr>
          </a:p>
        </p:txBody>
      </p:sp>
      <p:pic>
        <p:nvPicPr>
          <p:cNvPr id="324" name="Slika 5" descr="Slika na kojoj se prikazuje snimka zaslona, tekst, Multimedijski softver, softver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72000" y="2880000"/>
            <a:ext cx="9071640" cy="3761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F8BF02A-1A49-48E7-930B-E51E238B6B62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2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27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28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3085920"/>
            <a:ext cx="8473680" cy="33379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329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grpSp>
        <p:nvGrpSpPr>
          <p:cNvPr id="330" name="Group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28680" y="457200"/>
            <a:ext cx="2777040" cy="5934600"/>
            <a:chOff x="328680" y="457200"/>
            <a:chExt cx="2777040" cy="5934600"/>
          </a:xfrm>
        </p:grpSpPr>
        <p:sp>
          <p:nvSpPr>
            <p:cNvPr id="331" name="Rectangl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601200"/>
              <a:ext cx="2776320" cy="5790600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hr-HR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332" name="Rectangl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457200"/>
              <a:ext cx="2777040" cy="94680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hr-HR" sz="1800" spc="-1" strike="noStrike">
                <a:solidFill>
                  <a:schemeClr val="lt1"/>
                </a:solidFill>
                <a:latin typeface="Franklin Gothic Book"/>
              </a:endParaRPr>
            </a:p>
          </p:txBody>
        </p:sp>
      </p:grpSp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38120" y="1523880"/>
            <a:ext cx="2558520" cy="347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2800" spc="-1" strike="noStrike" cap="all">
                <a:solidFill>
                  <a:srgbClr val="ffffff"/>
                </a:solidFill>
                <a:latin typeface="Franklin Gothic Demi"/>
              </a:rPr>
              <a:t>Organizacija rada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ldNum" idx="59"/>
          </p:nvPr>
        </p:nvSpPr>
        <p:spPr>
          <a:xfrm>
            <a:off x="2590920" y="766080"/>
            <a:ext cx="4068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rgbClr val="ffffff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EAC502E0-91B3-49E1-AE6D-BFAB3A8DCFEE}" type="slidenum">
              <a:rPr b="0" lang="en-US" sz="900" spc="-1" strike="noStrike">
                <a:solidFill>
                  <a:srgbClr val="ffffff"/>
                </a:solidFill>
                <a:latin typeface="Franklin Gothic Book"/>
              </a:rPr>
              <a:t>16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35" name="Rezervirano mjesto sadržaja 8" descr="Slika na kojoj se prikazuje tekst, snimka zaslona, izbornik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3215520" y="182520"/>
            <a:ext cx="5720400" cy="639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37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38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339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0" name="Rectangl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4206600" cy="9504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1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11600" y="453960"/>
            <a:ext cx="4196880" cy="97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pic>
        <p:nvPicPr>
          <p:cNvPr id="342" name="Rezervirano mjesto sadržaja 13" descr="Slika na kojoj se prikazuje tekst, snimka zaslona, logotip, Font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1150200" y="643320"/>
            <a:ext cx="2576160" cy="557064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43" name="Slika 15" descr="Slika na kojoj se prikazuje tekst, snimka zaslona, Font, dizajn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5421960" y="643320"/>
            <a:ext cx="2576160" cy="557064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sp>
        <p:nvSpPr>
          <p:cNvPr id="344" name="PlaceHolder 1"/>
          <p:cNvSpPr>
            <a:spLocks noGrp="1"/>
          </p:cNvSpPr>
          <p:nvPr>
            <p:ph type="sldNum" idx="60"/>
          </p:nvPr>
        </p:nvSpPr>
        <p:spPr>
          <a:xfrm>
            <a:off x="7918560" y="642384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33D54FE6-5DDD-4D9F-BC05-6BDAB61F1D97}" type="slidenum">
              <a:rPr b="0" lang="en-US" sz="9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17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TekstniOkvir 16"/>
          <p:cNvSpPr/>
          <p:nvPr/>
        </p:nvSpPr>
        <p:spPr>
          <a:xfrm>
            <a:off x="1129680" y="6118560"/>
            <a:ext cx="2758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Landing Page</a:t>
            </a:r>
            <a:endParaRPr b="0" lang="hr-H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kstniOkvir 17"/>
          <p:cNvSpPr/>
          <p:nvPr/>
        </p:nvSpPr>
        <p:spPr>
          <a:xfrm>
            <a:off x="6120360" y="6118560"/>
            <a:ext cx="1237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Login</a:t>
            </a:r>
            <a:endParaRPr b="0" lang="hr-H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9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0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5079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1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8427960" cy="589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2" name="PlaceHolder 1"/>
          <p:cNvSpPr>
            <a:spLocks noGrp="1"/>
          </p:cNvSpPr>
          <p:nvPr>
            <p:ph type="sldNum" idx="61"/>
          </p:nvPr>
        </p:nvSpPr>
        <p:spPr>
          <a:xfrm>
            <a:off x="7918560" y="63846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05D75BDE-2F33-4DCA-A441-855CA334BA70}" type="slidenum">
              <a:rPr b="0" lang="en-US" sz="900" spc="-1" strike="noStrike">
                <a:solidFill>
                  <a:schemeClr val="lt1"/>
                </a:solidFill>
                <a:latin typeface="Franklin Gothic Book"/>
              </a:rPr>
              <a:t>18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TekstniOkvir 6"/>
          <p:cNvSpPr/>
          <p:nvPr/>
        </p:nvSpPr>
        <p:spPr>
          <a:xfrm>
            <a:off x="3869640" y="2927160"/>
            <a:ext cx="14050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Home </a:t>
            </a:r>
            <a:br>
              <a:rPr sz="3000"/>
            </a:b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Page</a:t>
            </a:r>
            <a:endParaRPr b="0" lang="hr-H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4" name="" descr=""/>
          <p:cNvPicPr/>
          <p:nvPr/>
        </p:nvPicPr>
        <p:blipFill>
          <a:blip r:embed="rId1"/>
          <a:stretch/>
        </p:blipFill>
        <p:spPr>
          <a:xfrm>
            <a:off x="811080" y="628200"/>
            <a:ext cx="2608920" cy="567180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55" name="" descr=""/>
          <p:cNvPicPr/>
          <p:nvPr/>
        </p:nvPicPr>
        <p:blipFill>
          <a:blip r:embed="rId2"/>
          <a:stretch/>
        </p:blipFill>
        <p:spPr>
          <a:xfrm>
            <a:off x="5724000" y="551880"/>
            <a:ext cx="2629080" cy="571608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7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8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9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0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1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en-US" sz="1800" spc="-1" strike="noStrike">
                <a:solidFill>
                  <a:schemeClr val="lt1"/>
                </a:solidFill>
                <a:latin typeface="Franklin Gothic Book"/>
              </a:rPr>
              <a:t>z</a:t>
            </a: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 type="sldNum" idx="62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D9EE5C16-9CD9-461A-B199-3BF3CEADC416}" type="slidenum">
              <a:rPr b="0" lang="en-US" sz="900" spc="-1" strike="noStrike">
                <a:solidFill>
                  <a:schemeClr val="lt1"/>
                </a:solidFill>
                <a:latin typeface="Franklin Gothic Book"/>
              </a:rPr>
              <a:t>19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3" name="" descr=""/>
          <p:cNvPicPr/>
          <p:nvPr/>
        </p:nvPicPr>
        <p:blipFill>
          <a:blip r:embed="rId1"/>
          <a:stretch/>
        </p:blipFill>
        <p:spPr>
          <a:xfrm>
            <a:off x="1761120" y="647640"/>
            <a:ext cx="2558880" cy="556308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sp>
        <p:nvSpPr>
          <p:cNvPr id="364" name="TekstniOkvir 8"/>
          <p:cNvSpPr/>
          <p:nvPr/>
        </p:nvSpPr>
        <p:spPr>
          <a:xfrm>
            <a:off x="450000" y="540000"/>
            <a:ext cx="1350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Grupa</a:t>
            </a:r>
            <a:endParaRPr b="0" lang="hr-H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2"/>
          <a:stretch/>
        </p:blipFill>
        <p:spPr>
          <a:xfrm>
            <a:off x="5461200" y="639000"/>
            <a:ext cx="2566800" cy="558000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7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8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9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0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1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2" name="PlaceHolder 1"/>
          <p:cNvSpPr>
            <a:spLocks noGrp="1"/>
          </p:cNvSpPr>
          <p:nvPr>
            <p:ph type="sldNum" idx="63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40F030BF-E02E-4DE3-B080-177017A8D1CD}" type="slidenum">
              <a:rPr b="0" lang="en-US" sz="900" spc="-1" strike="noStrike">
                <a:solidFill>
                  <a:schemeClr val="lt1"/>
                </a:solidFill>
                <a:latin typeface="Franklin Gothic Book"/>
              </a:rPr>
              <a:t>&lt;number&gt;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3" name="" descr=""/>
          <p:cNvPicPr/>
          <p:nvPr/>
        </p:nvPicPr>
        <p:blipFill>
          <a:blip r:embed="rId1"/>
          <a:stretch/>
        </p:blipFill>
        <p:spPr>
          <a:xfrm>
            <a:off x="1188000" y="690120"/>
            <a:ext cx="2519640" cy="54777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74" name="" descr=""/>
          <p:cNvPicPr/>
          <p:nvPr/>
        </p:nvPicPr>
        <p:blipFill>
          <a:blip r:embed="rId2"/>
          <a:stretch/>
        </p:blipFill>
        <p:spPr>
          <a:xfrm>
            <a:off x="5544000" y="729000"/>
            <a:ext cx="2484000" cy="540000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6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7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8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9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0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1" name="PlaceHolder 1"/>
          <p:cNvSpPr>
            <a:spLocks noGrp="1"/>
          </p:cNvSpPr>
          <p:nvPr>
            <p:ph type="sldNum" idx="64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8C94E362-CF0D-4C29-98AB-8BADD32D53F6}" type="slidenum">
              <a:rPr b="0" lang="en-US" sz="900" spc="-1" strike="noStrike">
                <a:solidFill>
                  <a:schemeClr val="lt1"/>
                </a:solidFill>
                <a:latin typeface="Franklin Gothic Book"/>
              </a:rPr>
              <a:t>&lt;number&gt;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82" name="Rezervirano mjesto sadržaja 11" descr="Slika na kojoj se prikazuje tekst, pisač, snimka zaslona, dizajn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5420520" y="728640"/>
            <a:ext cx="2491560" cy="54003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83" name="Slika 13" descr="Slika na kojoj se prikazuje tekst, snimka zaslona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1131480" y="654840"/>
            <a:ext cx="2604600" cy="56451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sp>
        <p:nvSpPr>
          <p:cNvPr id="384" name="TekstniOkvir 14"/>
          <p:cNvSpPr/>
          <p:nvPr/>
        </p:nvSpPr>
        <p:spPr>
          <a:xfrm>
            <a:off x="4435560" y="4480920"/>
            <a:ext cx="4462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Dodavanje Transakcije</a:t>
            </a:r>
            <a:endParaRPr b="0" lang="hr-H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6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7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8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9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0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sldNum" idx="65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4C576EA5-CD63-4416-A183-FCDA25E916F3}" type="slidenum">
              <a:rPr b="0" lang="en-US" sz="900" spc="-1" strike="noStrike">
                <a:solidFill>
                  <a:schemeClr val="lt1"/>
                </a:solidFill>
                <a:latin typeface="Franklin Gothic Book"/>
              </a:rPr>
              <a:t>&lt;number&gt;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92" name="Rezervirano mjesto sadržaja 6" descr="Slika na kojoj se prikazuje tekst, snimka zaslona, Font, broj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5466240" y="762840"/>
            <a:ext cx="2491560" cy="54003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93" name="Slika 9" descr="Slika na kojoj se prikazuje tekst, snimka zaslona, softver, dizajn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1185840" y="762840"/>
            <a:ext cx="2471760" cy="53571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5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6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hr-HR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7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5079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8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8427960" cy="589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sldNum" idx="66"/>
          </p:nvPr>
        </p:nvSpPr>
        <p:spPr>
          <a:xfrm>
            <a:off x="7918560" y="63846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b="0" lang="en-US" sz="900" spc="-1" strike="noStrike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2D320D06-8D32-4908-9107-D1886A84B09D}" type="slidenum">
              <a:rPr b="0" lang="en-US" sz="900" spc="-1" strike="noStrike">
                <a:solidFill>
                  <a:schemeClr val="lt1"/>
                </a:solidFill>
                <a:latin typeface="Franklin Gothic Book"/>
              </a:rPr>
              <a:t>&lt;number&gt;</a:t>
            </a:fld>
            <a:endParaRPr b="0" lang="hr-H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TekstniOkvir 6"/>
          <p:cNvSpPr/>
          <p:nvPr/>
        </p:nvSpPr>
        <p:spPr>
          <a:xfrm>
            <a:off x="1616760" y="2689560"/>
            <a:ext cx="1523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Profile </a:t>
            </a:r>
            <a:br>
              <a:rPr sz="3000"/>
            </a:br>
            <a:r>
              <a:rPr b="1" lang="hr-HR" sz="3000" spc="-1" strike="noStrike">
                <a:solidFill>
                  <a:schemeClr val="dk1"/>
                </a:solidFill>
                <a:latin typeface="Franklin Gothic Book"/>
              </a:rPr>
              <a:t>Page</a:t>
            </a:r>
            <a:endParaRPr b="0" lang="hr-H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1" name="Slika 2" descr="Slika na kojoj se prikazuje tekst, snimka zaslona, Font, dizajn&#10;&#10;Sadržaj generiran uz AI možda nije točan."/>
          <p:cNvPicPr/>
          <p:nvPr/>
        </p:nvPicPr>
        <p:blipFill>
          <a:blip r:embed="rId1"/>
          <a:stretch/>
        </p:blipFill>
        <p:spPr>
          <a:xfrm>
            <a:off x="3391560" y="669960"/>
            <a:ext cx="2664000" cy="551808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257040">
              <a:lnSpc>
                <a:spcPct val="100000"/>
              </a:lnSpc>
              <a:buNone/>
            </a:pPr>
            <a:r>
              <a:rPr b="0" lang="hr-HR" sz="2800" spc="-1" strike="noStrike" cap="all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Zaključak</a:t>
            </a:r>
            <a:endParaRPr b="0" lang="en-US" sz="28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Tijekom izrade projekta Računko stekli smo vrijedna znanja i iskustva u planiranju i razvoju mobilne aplikacije, kao i u primjeni suvremenih tehnologija i alata. 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Kvaliteta i pouzdanost sustava osigurane su provedbom unit testova na backendu te E2E testova frontend-a pomoću alata Maestro. 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b="0" lang="hr-HR" sz="2400" spc="-1" strike="noStrike">
                <a:solidFill>
                  <a:schemeClr val="dk1"/>
                </a:solidFill>
                <a:latin typeface="Franklin Gothic Book"/>
              </a:rPr>
              <a:t>Jasna podjela zadataka među članovima tima omogućila je uspješnu realizaciju svih projektnih zahtjeva, unatoč izazovima tijekom razvoja.</a:t>
            </a:r>
            <a:endParaRPr b="0" lang="en-US" sz="2400" spc="-1" strike="noStrike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24BA818-062C-4838-9C8A-4B9C686F5812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 pitchFamily="0" charset="1"/>
        <a:ea typeface=""/>
        <a:cs typeface=""/>
      </a:majorFont>
      <a:minorFont>
        <a:latin typeface="Franklin Gothic Book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 pitchFamily="0" charset="1"/>
        <a:ea typeface=""/>
        <a:cs typeface=""/>
      </a:majorFont>
      <a:minorFont>
        <a:latin typeface="Franklin Gothic Book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1476</TotalTime>
  <Application>LibreOffice/24.2.7.2$Linux_X86_64 LibreOffice_project/420$Build-2</Application>
  <AppVersion>15.0000</AppVersion>
  <Words>596</Words>
  <Paragraphs>139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2016-01-18T13:10:52Z</dcterms:created>
  <dc:creator>nfrid</dc:creator>
  <dc:description/>
  <dc:language>hr-HR</dc:language>
  <cp:lastModifiedBy/>
  <dcterms:modified xsi:type="dcterms:W3CDTF">2026-01-26T12:56:45Z</dcterms:modified>
  <cp:revision>28</cp:revision>
  <dc:subject/>
  <dc:title>&lt;Naziv projekta&gt;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(4:3)</vt:lpwstr>
  </property>
  <property fmtid="{D5CDD505-2E9C-101B-9397-08002B2CF9AE}" pid="4" name="Slides">
    <vt:i4>24</vt:i4>
  </property>
</Properties>
</file>